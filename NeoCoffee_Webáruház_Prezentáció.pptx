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8882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E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-1097280" y="-1097280"/>
            <a:ext cx="3657600" cy="3657600"/>
          </a:xfrm>
          <a:prstGeom prst="ellipse">
            <a:avLst/>
          </a:prstGeom>
          <a:solidFill>
            <a:srgbClr val="2D1A0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9601200" y="4114800"/>
            <a:ext cx="3200400" cy="3200400"/>
          </a:xfrm>
          <a:prstGeom prst="ellipse">
            <a:avLst/>
          </a:prstGeom>
          <a:solidFill>
            <a:srgbClr val="1E123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0" y="0"/>
            <a:ext cx="6094476" cy="54864"/>
          </a:xfrm>
          <a:prstGeom prst="rect">
            <a:avLst/>
          </a:prstGeom>
          <a:solidFill>
            <a:srgbClr val="EC489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6094476" y="0"/>
            <a:ext cx="6094476" cy="54864"/>
          </a:xfrm>
          <a:prstGeom prst="rect">
            <a:avLst/>
          </a:prstGeom>
          <a:solidFill>
            <a:srgbClr val="9333E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/>
          <p:nvPr/>
        </p:nvSpPr>
        <p:spPr>
          <a:xfrm>
            <a:off x="1097280" y="1371600"/>
            <a:ext cx="9966960" cy="4114800"/>
          </a:xfrm>
          <a:prstGeom prst="ellipse">
            <a:avLst/>
          </a:prstGeom>
          <a:solidFill>
            <a:srgbClr val="22140A"/>
          </a:solidFill>
          <a:ln cap="flat" cmpd="sng" w="9525">
            <a:solidFill>
              <a:srgbClr val="7B441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1371600" y="1554480"/>
            <a:ext cx="96012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00" u="none" cap="none" strike="noStrike">
                <a:solidFill>
                  <a:srgbClr val="C48B4A"/>
                </a:solidFill>
                <a:latin typeface="Calibri"/>
                <a:ea typeface="Calibri"/>
                <a:cs typeface="Calibri"/>
                <a:sym typeface="Calibri"/>
              </a:rPr>
              <a:t>☕  NeoCoffee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1371600" y="2606040"/>
            <a:ext cx="9601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Webáruház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1371600" y="3337560"/>
            <a:ext cx="9601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Modern kávé webshop – SvelteKit · Express.js · SQLite</a:t>
            </a:r>
            <a:endParaRPr/>
          </a:p>
        </p:txBody>
      </p:sp>
      <p:sp>
        <p:nvSpPr>
          <p:cNvPr id="97" name="Google Shape;97;p13"/>
          <p:cNvSpPr/>
          <p:nvPr/>
        </p:nvSpPr>
        <p:spPr>
          <a:xfrm>
            <a:off x="1828800" y="4160520"/>
            <a:ext cx="1508760" cy="347472"/>
          </a:xfrm>
          <a:prstGeom prst="ellipse">
            <a:avLst/>
          </a:prstGeom>
          <a:solidFill>
            <a:srgbClr val="7B4418"/>
          </a:solidFill>
          <a:ln cap="flat" cmpd="sng" w="9525">
            <a:solidFill>
              <a:srgbClr val="7B441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SvelteKit</a:t>
            </a:r>
            <a:endParaRPr/>
          </a:p>
        </p:txBody>
      </p:sp>
      <p:sp>
        <p:nvSpPr>
          <p:cNvPr id="98" name="Google Shape;98;p13"/>
          <p:cNvSpPr/>
          <p:nvPr/>
        </p:nvSpPr>
        <p:spPr>
          <a:xfrm>
            <a:off x="3520440" y="4160520"/>
            <a:ext cx="1508760" cy="347472"/>
          </a:xfrm>
          <a:prstGeom prst="ellipse">
            <a:avLst/>
          </a:prstGeom>
          <a:solidFill>
            <a:srgbClr val="3178C6"/>
          </a:solidFill>
          <a:ln cap="flat" cmpd="sng" w="9525">
            <a:solidFill>
              <a:srgbClr val="3178C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TypeScript</a:t>
            </a:r>
            <a:endParaRPr/>
          </a:p>
        </p:txBody>
      </p:sp>
      <p:sp>
        <p:nvSpPr>
          <p:cNvPr id="99" name="Google Shape;99;p13"/>
          <p:cNvSpPr/>
          <p:nvPr/>
        </p:nvSpPr>
        <p:spPr>
          <a:xfrm>
            <a:off x="5212080" y="4160520"/>
            <a:ext cx="1508760" cy="347472"/>
          </a:xfrm>
          <a:prstGeom prst="ellipse">
            <a:avLst/>
          </a:prstGeom>
          <a:solidFill>
            <a:srgbClr val="068F8A"/>
          </a:solidFill>
          <a:ln cap="flat" cmpd="sng" w="9525">
            <a:solidFill>
              <a:srgbClr val="068F8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Tailwind CSS</a:t>
            </a:r>
            <a:endParaRPr/>
          </a:p>
        </p:txBody>
      </p:sp>
      <p:sp>
        <p:nvSpPr>
          <p:cNvPr id="100" name="Google Shape;100;p13"/>
          <p:cNvSpPr/>
          <p:nvPr/>
        </p:nvSpPr>
        <p:spPr>
          <a:xfrm>
            <a:off x="6903720" y="4160520"/>
            <a:ext cx="1508760" cy="347472"/>
          </a:xfrm>
          <a:prstGeom prst="ellipse">
            <a:avLst/>
          </a:prstGeom>
          <a:solidFill>
            <a:srgbClr val="263238"/>
          </a:solidFill>
          <a:ln cap="flat" cmpd="sng" w="9525">
            <a:solidFill>
              <a:srgbClr val="26323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Express.js</a:t>
            </a:r>
            <a:endParaRPr/>
          </a:p>
        </p:txBody>
      </p:sp>
      <p:sp>
        <p:nvSpPr>
          <p:cNvPr id="101" name="Google Shape;101;p13"/>
          <p:cNvSpPr/>
          <p:nvPr/>
        </p:nvSpPr>
        <p:spPr>
          <a:xfrm>
            <a:off x="8595360" y="4160520"/>
            <a:ext cx="1508760" cy="347472"/>
          </a:xfrm>
          <a:prstGeom prst="ellipse">
            <a:avLst/>
          </a:prstGeom>
          <a:solidFill>
            <a:srgbClr val="003B57"/>
          </a:solidFill>
          <a:ln cap="flat" cmpd="sng" w="9525">
            <a:solidFill>
              <a:srgbClr val="003B5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SQLite</a:t>
            </a:r>
            <a:endParaRPr/>
          </a:p>
        </p:txBody>
      </p:sp>
      <p:sp>
        <p:nvSpPr>
          <p:cNvPr id="102" name="Google Shape;102;p13"/>
          <p:cNvSpPr/>
          <p:nvPr/>
        </p:nvSpPr>
        <p:spPr>
          <a:xfrm>
            <a:off x="0" y="6784848"/>
            <a:ext cx="6094476" cy="73152"/>
          </a:xfrm>
          <a:prstGeom prst="rect">
            <a:avLst/>
          </a:prstGeom>
          <a:solidFill>
            <a:srgbClr val="EC489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/>
          <p:nvPr/>
        </p:nvSpPr>
        <p:spPr>
          <a:xfrm>
            <a:off x="6094476" y="6784848"/>
            <a:ext cx="6094476" cy="73152"/>
          </a:xfrm>
          <a:prstGeom prst="rect">
            <a:avLst/>
          </a:prstGeom>
          <a:solidFill>
            <a:srgbClr val="9333E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3"/>
          <p:cNvSpPr txBox="1"/>
          <p:nvPr/>
        </p:nvSpPr>
        <p:spPr>
          <a:xfrm>
            <a:off x="0" y="6492240"/>
            <a:ext cx="12189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2025-2026  |  </a:t>
            </a:r>
            <a:r>
              <a:rPr lang="en-US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Vitális Kristóf &amp; Nagy Kristóf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4"/>
          <p:cNvSpPr/>
          <p:nvPr/>
        </p:nvSpPr>
        <p:spPr>
          <a:xfrm>
            <a:off x="-87" y="-367175"/>
            <a:ext cx="12189000" cy="6858000"/>
          </a:xfrm>
          <a:prstGeom prst="rect">
            <a:avLst/>
          </a:prstGeom>
          <a:solidFill>
            <a:srgbClr val="0D0E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0" y="0"/>
            <a:ext cx="6094476" cy="73152"/>
          </a:xfrm>
          <a:prstGeom prst="rect">
            <a:avLst/>
          </a:prstGeom>
          <a:solidFill>
            <a:srgbClr val="EC489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6094476" y="0"/>
            <a:ext cx="6094476" cy="73152"/>
          </a:xfrm>
          <a:prstGeom prst="rect">
            <a:avLst/>
          </a:prstGeom>
          <a:solidFill>
            <a:srgbClr val="9333E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Tartalom</a:t>
            </a:r>
            <a:endParaRPr/>
          </a:p>
        </p:txBody>
      </p:sp>
      <p:sp>
        <p:nvSpPr>
          <p:cNvPr id="113" name="Google Shape;113;p14"/>
          <p:cNvSpPr/>
          <p:nvPr/>
        </p:nvSpPr>
        <p:spPr>
          <a:xfrm>
            <a:off x="457200" y="1078992"/>
            <a:ext cx="475488" cy="365760"/>
          </a:xfrm>
          <a:prstGeom prst="ellipse">
            <a:avLst/>
          </a:prstGeom>
          <a:solidFill>
            <a:srgbClr val="7B4418"/>
          </a:solidFill>
          <a:ln cap="flat" cmpd="sng" w="9525">
            <a:solidFill>
              <a:srgbClr val="7B441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1051560" y="1005840"/>
            <a:ext cx="4754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Projekt bemutatása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1051560" y="1353312"/>
            <a:ext cx="4754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A NeoCoffee webshop céljai és főbb jellemzői</a:t>
            </a:r>
            <a:endParaRPr/>
          </a:p>
        </p:txBody>
      </p:sp>
      <p:sp>
        <p:nvSpPr>
          <p:cNvPr id="116" name="Google Shape;116;p14"/>
          <p:cNvSpPr/>
          <p:nvPr/>
        </p:nvSpPr>
        <p:spPr>
          <a:xfrm>
            <a:off x="457200" y="1993392"/>
            <a:ext cx="475488" cy="365760"/>
          </a:xfrm>
          <a:prstGeom prst="ellipse">
            <a:avLst/>
          </a:prstGeom>
          <a:solidFill>
            <a:srgbClr val="7B4418"/>
          </a:solidFill>
          <a:ln cap="flat" cmpd="sng" w="9525">
            <a:solidFill>
              <a:srgbClr val="7B441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1051560" y="1920240"/>
            <a:ext cx="4754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Funkciók áttekintése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1051560" y="2267712"/>
            <a:ext cx="4754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Vásárlási folyamat, kosár, pénztár, admin</a:t>
            </a:r>
            <a:endParaRPr/>
          </a:p>
        </p:txBody>
      </p:sp>
      <p:sp>
        <p:nvSpPr>
          <p:cNvPr id="119" name="Google Shape;119;p14"/>
          <p:cNvSpPr/>
          <p:nvPr/>
        </p:nvSpPr>
        <p:spPr>
          <a:xfrm>
            <a:off x="457200" y="2907792"/>
            <a:ext cx="475488" cy="365760"/>
          </a:xfrm>
          <a:prstGeom prst="ellipse">
            <a:avLst/>
          </a:prstGeom>
          <a:solidFill>
            <a:srgbClr val="7B4418"/>
          </a:solidFill>
          <a:ln cap="flat" cmpd="sng" w="9525">
            <a:solidFill>
              <a:srgbClr val="7B441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1051560" y="2834640"/>
            <a:ext cx="4754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Technológiai Stack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1051560" y="3182112"/>
            <a:ext cx="4754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Frontend, backend, build és tesztelési eszközök</a:t>
            </a:r>
            <a:endParaRPr/>
          </a:p>
        </p:txBody>
      </p:sp>
      <p:sp>
        <p:nvSpPr>
          <p:cNvPr id="122" name="Google Shape;122;p14"/>
          <p:cNvSpPr/>
          <p:nvPr/>
        </p:nvSpPr>
        <p:spPr>
          <a:xfrm>
            <a:off x="457200" y="3712492"/>
            <a:ext cx="475500" cy="365700"/>
          </a:xfrm>
          <a:prstGeom prst="ellipse">
            <a:avLst/>
          </a:prstGeom>
          <a:solidFill>
            <a:srgbClr val="7B4418"/>
          </a:solidFill>
          <a:ln cap="flat" cmpd="sng" w="9525">
            <a:solidFill>
              <a:srgbClr val="7B441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en-US" sz="1300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1051560" y="3639340"/>
            <a:ext cx="475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Adatbázis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1051560" y="3986812"/>
            <a:ext cx="4755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SQLite séma, táblák, indexek</a:t>
            </a:r>
            <a:endParaRPr/>
          </a:p>
        </p:txBody>
      </p:sp>
      <p:sp>
        <p:nvSpPr>
          <p:cNvPr id="125" name="Google Shape;125;p14"/>
          <p:cNvSpPr/>
          <p:nvPr/>
        </p:nvSpPr>
        <p:spPr>
          <a:xfrm>
            <a:off x="457200" y="4468630"/>
            <a:ext cx="475500" cy="365700"/>
          </a:xfrm>
          <a:prstGeom prst="ellipse">
            <a:avLst/>
          </a:prstGeom>
          <a:solidFill>
            <a:srgbClr val="7B4418"/>
          </a:solidFill>
          <a:ln cap="flat" cmpd="sng" w="9525">
            <a:solidFill>
              <a:srgbClr val="7B441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en-US" sz="1300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26" name="Google Shape;126;p14"/>
          <p:cNvSpPr txBox="1"/>
          <p:nvPr/>
        </p:nvSpPr>
        <p:spPr>
          <a:xfrm>
            <a:off x="1051560" y="4395478"/>
            <a:ext cx="475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Backend API</a:t>
            </a:r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1051560" y="4742950"/>
            <a:ext cx="4755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Express.js végpontok, JWT autentikáció</a:t>
            </a:r>
            <a:endParaRPr/>
          </a:p>
        </p:txBody>
      </p:sp>
      <p:sp>
        <p:nvSpPr>
          <p:cNvPr id="128" name="Google Shape;128;p14"/>
          <p:cNvSpPr/>
          <p:nvPr/>
        </p:nvSpPr>
        <p:spPr>
          <a:xfrm>
            <a:off x="457210" y="5254342"/>
            <a:ext cx="475500" cy="365700"/>
          </a:xfrm>
          <a:prstGeom prst="ellipse">
            <a:avLst/>
          </a:prstGeom>
          <a:solidFill>
            <a:srgbClr val="7B4418"/>
          </a:solidFill>
          <a:ln cap="flat" cmpd="sng" w="9525">
            <a:solidFill>
              <a:srgbClr val="7B441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en-US" sz="1300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29" name="Google Shape;129;p14"/>
          <p:cNvSpPr txBox="1"/>
          <p:nvPr/>
        </p:nvSpPr>
        <p:spPr>
          <a:xfrm>
            <a:off x="1051570" y="5181190"/>
            <a:ext cx="475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Frontend komponensek</a:t>
            </a:r>
            <a:endParaRPr/>
          </a:p>
        </p:txBody>
      </p:sp>
      <p:sp>
        <p:nvSpPr>
          <p:cNvPr id="130" name="Google Shape;130;p14"/>
          <p:cNvSpPr txBox="1"/>
          <p:nvPr/>
        </p:nvSpPr>
        <p:spPr>
          <a:xfrm>
            <a:off x="1051570" y="5528662"/>
            <a:ext cx="4755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SvelteKit útvonalak, UI komponensek</a:t>
            </a:r>
            <a:endParaRPr/>
          </a:p>
        </p:txBody>
      </p:sp>
      <p:sp>
        <p:nvSpPr>
          <p:cNvPr id="131" name="Google Shape;131;p14"/>
          <p:cNvSpPr/>
          <p:nvPr/>
        </p:nvSpPr>
        <p:spPr>
          <a:xfrm>
            <a:off x="6315497" y="1078992"/>
            <a:ext cx="475500" cy="365700"/>
          </a:xfrm>
          <a:prstGeom prst="ellipse">
            <a:avLst/>
          </a:prstGeom>
          <a:solidFill>
            <a:srgbClr val="7B4418"/>
          </a:solidFill>
          <a:ln cap="flat" cmpd="sng" w="9525">
            <a:solidFill>
              <a:srgbClr val="7B441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en-US" sz="1300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32" name="Google Shape;132;p14"/>
          <p:cNvSpPr txBox="1"/>
          <p:nvPr/>
        </p:nvSpPr>
        <p:spPr>
          <a:xfrm>
            <a:off x="6909858" y="1005840"/>
            <a:ext cx="475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Állapotkezelés</a:t>
            </a:r>
            <a:endParaRPr/>
          </a:p>
        </p:txBody>
      </p:sp>
      <p:sp>
        <p:nvSpPr>
          <p:cNvPr id="133" name="Google Shape;133;p14"/>
          <p:cNvSpPr txBox="1"/>
          <p:nvPr/>
        </p:nvSpPr>
        <p:spPr>
          <a:xfrm>
            <a:off x="6909858" y="1353312"/>
            <a:ext cx="4755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Svelte stores, reaktív frissítések</a:t>
            </a:r>
            <a:endParaRPr/>
          </a:p>
        </p:txBody>
      </p:sp>
      <p:sp>
        <p:nvSpPr>
          <p:cNvPr id="134" name="Google Shape;134;p14"/>
          <p:cNvSpPr/>
          <p:nvPr/>
        </p:nvSpPr>
        <p:spPr>
          <a:xfrm>
            <a:off x="6315497" y="1993392"/>
            <a:ext cx="475500" cy="365700"/>
          </a:xfrm>
          <a:prstGeom prst="ellipse">
            <a:avLst/>
          </a:prstGeom>
          <a:solidFill>
            <a:srgbClr val="7B4418"/>
          </a:solidFill>
          <a:ln cap="flat" cmpd="sng" w="9525">
            <a:solidFill>
              <a:srgbClr val="7B441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en-US" sz="1300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135" name="Google Shape;135;p14"/>
          <p:cNvSpPr txBox="1"/>
          <p:nvPr/>
        </p:nvSpPr>
        <p:spPr>
          <a:xfrm>
            <a:off x="6909858" y="1920240"/>
            <a:ext cx="475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Vizuális design</a:t>
            </a:r>
            <a:endParaRPr/>
          </a:p>
        </p:txBody>
      </p:sp>
      <p:sp>
        <p:nvSpPr>
          <p:cNvPr id="136" name="Google Shape;136;p14"/>
          <p:cNvSpPr txBox="1"/>
          <p:nvPr/>
        </p:nvSpPr>
        <p:spPr>
          <a:xfrm>
            <a:off x="6909858" y="2267712"/>
            <a:ext cx="4755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Glassmorphism, animációk, témarendszer</a:t>
            </a:r>
            <a:endParaRPr/>
          </a:p>
        </p:txBody>
      </p:sp>
      <p:sp>
        <p:nvSpPr>
          <p:cNvPr id="137" name="Google Shape;137;p14"/>
          <p:cNvSpPr/>
          <p:nvPr/>
        </p:nvSpPr>
        <p:spPr>
          <a:xfrm>
            <a:off x="6315497" y="2907791"/>
            <a:ext cx="475500" cy="365700"/>
          </a:xfrm>
          <a:prstGeom prst="ellipse">
            <a:avLst/>
          </a:prstGeom>
          <a:solidFill>
            <a:srgbClr val="7B4418"/>
          </a:solidFill>
          <a:ln cap="flat" cmpd="sng" w="9525">
            <a:solidFill>
              <a:srgbClr val="7B441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sz="1300">
              <a:solidFill>
                <a:srgbClr val="F5E6C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1" sz="1300">
              <a:solidFill>
                <a:srgbClr val="F5E6C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4"/>
          <p:cNvSpPr txBox="1"/>
          <p:nvPr/>
        </p:nvSpPr>
        <p:spPr>
          <a:xfrm>
            <a:off x="6909858" y="2834639"/>
            <a:ext cx="475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Tesztelés</a:t>
            </a:r>
            <a:endParaRPr/>
          </a:p>
        </p:txBody>
      </p:sp>
      <p:sp>
        <p:nvSpPr>
          <p:cNvPr id="139" name="Google Shape;139;p14"/>
          <p:cNvSpPr txBox="1"/>
          <p:nvPr/>
        </p:nvSpPr>
        <p:spPr>
          <a:xfrm>
            <a:off x="6909858" y="3182111"/>
            <a:ext cx="4755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Vitest unit és integrációs tesztek</a:t>
            </a:r>
            <a:endParaRPr/>
          </a:p>
        </p:txBody>
      </p:sp>
      <p:sp>
        <p:nvSpPr>
          <p:cNvPr id="140" name="Google Shape;140;p14"/>
          <p:cNvSpPr/>
          <p:nvPr/>
        </p:nvSpPr>
        <p:spPr>
          <a:xfrm>
            <a:off x="6315497" y="3822192"/>
            <a:ext cx="475500" cy="365700"/>
          </a:xfrm>
          <a:prstGeom prst="ellipse">
            <a:avLst/>
          </a:prstGeom>
          <a:solidFill>
            <a:srgbClr val="7B4418"/>
          </a:solidFill>
          <a:ln cap="flat" cmpd="sng" w="9525">
            <a:solidFill>
              <a:srgbClr val="7B441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-US" sz="1300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41" name="Google Shape;141;p14"/>
          <p:cNvSpPr txBox="1"/>
          <p:nvPr/>
        </p:nvSpPr>
        <p:spPr>
          <a:xfrm>
            <a:off x="6909858" y="3749040"/>
            <a:ext cx="475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Fejlesztési parancsok</a:t>
            </a:r>
            <a:endParaRPr/>
          </a:p>
        </p:txBody>
      </p:sp>
      <p:sp>
        <p:nvSpPr>
          <p:cNvPr id="142" name="Google Shape;142;p14"/>
          <p:cNvSpPr txBox="1"/>
          <p:nvPr/>
        </p:nvSpPr>
        <p:spPr>
          <a:xfrm>
            <a:off x="6909858" y="4096512"/>
            <a:ext cx="4755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NPM szkriptek, futtatás, build</a:t>
            </a:r>
            <a:endParaRPr/>
          </a:p>
        </p:txBody>
      </p:sp>
      <p:sp>
        <p:nvSpPr>
          <p:cNvPr id="143" name="Google Shape;143;p14"/>
          <p:cNvSpPr/>
          <p:nvPr/>
        </p:nvSpPr>
        <p:spPr>
          <a:xfrm>
            <a:off x="6315497" y="4736592"/>
            <a:ext cx="475500" cy="365700"/>
          </a:xfrm>
          <a:prstGeom prst="ellipse">
            <a:avLst/>
          </a:prstGeom>
          <a:solidFill>
            <a:srgbClr val="7B4418"/>
          </a:solidFill>
          <a:ln cap="flat" cmpd="sng" w="9525">
            <a:solidFill>
              <a:srgbClr val="7B441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-US" sz="1300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44" name="Google Shape;144;p14"/>
          <p:cNvSpPr txBox="1"/>
          <p:nvPr/>
        </p:nvSpPr>
        <p:spPr>
          <a:xfrm>
            <a:off x="6909858" y="4663440"/>
            <a:ext cx="4755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Összefoglalás</a:t>
            </a:r>
            <a:endParaRPr/>
          </a:p>
        </p:txBody>
      </p:sp>
      <p:sp>
        <p:nvSpPr>
          <p:cNvPr id="145" name="Google Shape;145;p14"/>
          <p:cNvSpPr txBox="1"/>
          <p:nvPr/>
        </p:nvSpPr>
        <p:spPr>
          <a:xfrm>
            <a:off x="6909858" y="5010912"/>
            <a:ext cx="4755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Eredmények és lehetséges fejlesztések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5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E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5"/>
          <p:cNvSpPr/>
          <p:nvPr/>
        </p:nvSpPr>
        <p:spPr>
          <a:xfrm>
            <a:off x="0" y="502920"/>
            <a:ext cx="6094476" cy="73152"/>
          </a:xfrm>
          <a:prstGeom prst="rect">
            <a:avLst/>
          </a:prstGeom>
          <a:solidFill>
            <a:srgbClr val="EC489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5"/>
          <p:cNvSpPr/>
          <p:nvPr/>
        </p:nvSpPr>
        <p:spPr>
          <a:xfrm>
            <a:off x="6094476" y="502920"/>
            <a:ext cx="6094476" cy="73152"/>
          </a:xfrm>
          <a:prstGeom prst="rect">
            <a:avLst/>
          </a:prstGeom>
          <a:solidFill>
            <a:srgbClr val="9333E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5"/>
          <p:cNvSpPr txBox="1"/>
          <p:nvPr/>
        </p:nvSpPr>
        <p:spPr>
          <a:xfrm>
            <a:off x="365760" y="640080"/>
            <a:ext cx="114300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01  Projekt bemutatása</a:t>
            </a:r>
            <a:endParaRPr/>
          </a:p>
        </p:txBody>
      </p:sp>
      <p:sp>
        <p:nvSpPr>
          <p:cNvPr id="154" name="Google Shape;154;p15"/>
          <p:cNvSpPr txBox="1"/>
          <p:nvPr/>
        </p:nvSpPr>
        <p:spPr>
          <a:xfrm>
            <a:off x="365760" y="150876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NeoCoffee – modern kávé webáruház glassmorphism dizájnnal</a:t>
            </a:r>
            <a:endParaRPr/>
          </a:p>
        </p:txBody>
      </p:sp>
      <p:sp>
        <p:nvSpPr>
          <p:cNvPr id="155" name="Google Shape;155;p15"/>
          <p:cNvSpPr txBox="1"/>
          <p:nvPr/>
        </p:nvSpPr>
        <p:spPr>
          <a:xfrm>
            <a:off x="457200" y="2148840"/>
            <a:ext cx="62178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A NeoCoffee egy teljes körű kávé webáruház alkalmazás,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amelyet SvelteKit frontend és Express.js backend épít fel.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E5E7E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A vásárlók 6 különböző kávét rendelhetnek testreszabható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opciókkal (tej típus, cukor mennyiség), majd online adják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le rendeléseiket – amit az </a:t>
            </a:r>
            <a:r>
              <a:rPr lang="en-US" sz="1500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adminisztrátor</a:t>
            </a:r>
            <a:r>
              <a:rPr lang="en-US" sz="1500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 felhasználók</a:t>
            </a:r>
            <a:r>
              <a:rPr b="0" i="0" lang="en-US" sz="15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 admin felületen kezelnek.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E5E7E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Különlegesség: a cégünk speciális pohár technológiája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8 órán át melegen tartja a kávét!</a:t>
            </a:r>
            <a:endParaRPr/>
          </a:p>
        </p:txBody>
      </p:sp>
      <p:sp>
        <p:nvSpPr>
          <p:cNvPr id="156" name="Google Shape;156;p15"/>
          <p:cNvSpPr/>
          <p:nvPr/>
        </p:nvSpPr>
        <p:spPr>
          <a:xfrm>
            <a:off x="7315200" y="2194560"/>
            <a:ext cx="4297680" cy="804672"/>
          </a:xfrm>
          <a:prstGeom prst="ellipse">
            <a:avLst/>
          </a:prstGeom>
          <a:solidFill>
            <a:srgbClr val="22140A"/>
          </a:solidFill>
          <a:ln cap="flat" cmpd="sng" w="9525">
            <a:solidFill>
              <a:srgbClr val="7B441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5"/>
          <p:cNvSpPr txBox="1"/>
          <p:nvPr/>
        </p:nvSpPr>
        <p:spPr>
          <a:xfrm>
            <a:off x="7909560" y="2240279"/>
            <a:ext cx="1005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C48B4A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58" name="Google Shape;158;p15"/>
          <p:cNvSpPr txBox="1"/>
          <p:nvPr/>
        </p:nvSpPr>
        <p:spPr>
          <a:xfrm>
            <a:off x="9052560" y="239572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Kávétermék</a:t>
            </a:r>
            <a:endParaRPr b="0" i="0" sz="1400" u="none" cap="none" strike="noStrike">
              <a:solidFill>
                <a:srgbClr val="F5E6C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5"/>
          <p:cNvSpPr/>
          <p:nvPr/>
        </p:nvSpPr>
        <p:spPr>
          <a:xfrm>
            <a:off x="7315200" y="3200400"/>
            <a:ext cx="4297680" cy="804672"/>
          </a:xfrm>
          <a:prstGeom prst="ellipse">
            <a:avLst/>
          </a:prstGeom>
          <a:solidFill>
            <a:srgbClr val="22140A"/>
          </a:solidFill>
          <a:ln cap="flat" cmpd="sng" w="9525">
            <a:solidFill>
              <a:srgbClr val="7B441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5"/>
          <p:cNvSpPr txBox="1"/>
          <p:nvPr/>
        </p:nvSpPr>
        <p:spPr>
          <a:xfrm>
            <a:off x="7909560" y="3246120"/>
            <a:ext cx="1005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C48B4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61" name="Google Shape;161;p15"/>
          <p:cNvSpPr txBox="1"/>
          <p:nvPr/>
        </p:nvSpPr>
        <p:spPr>
          <a:xfrm>
            <a:off x="9052560" y="3401568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Tej opció</a:t>
            </a:r>
            <a:endParaRPr b="0" i="0" sz="1400" u="none" cap="none" strike="noStrike">
              <a:solidFill>
                <a:srgbClr val="F5E6C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5"/>
          <p:cNvSpPr/>
          <p:nvPr/>
        </p:nvSpPr>
        <p:spPr>
          <a:xfrm>
            <a:off x="7315200" y="4206240"/>
            <a:ext cx="4297680" cy="804672"/>
          </a:xfrm>
          <a:prstGeom prst="ellipse">
            <a:avLst/>
          </a:prstGeom>
          <a:solidFill>
            <a:srgbClr val="22140A"/>
          </a:solidFill>
          <a:ln cap="flat" cmpd="sng" w="9525">
            <a:solidFill>
              <a:srgbClr val="7B441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5"/>
          <p:cNvSpPr txBox="1"/>
          <p:nvPr/>
        </p:nvSpPr>
        <p:spPr>
          <a:xfrm>
            <a:off x="7909560" y="4251959"/>
            <a:ext cx="1005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C48B4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64" name="Google Shape;164;p15"/>
          <p:cNvSpPr txBox="1"/>
          <p:nvPr/>
        </p:nvSpPr>
        <p:spPr>
          <a:xfrm>
            <a:off x="9052560" y="4407407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Főoldal route</a:t>
            </a:r>
            <a:endParaRPr/>
          </a:p>
        </p:txBody>
      </p:sp>
      <p:sp>
        <p:nvSpPr>
          <p:cNvPr id="165" name="Google Shape;165;p15"/>
          <p:cNvSpPr/>
          <p:nvPr/>
        </p:nvSpPr>
        <p:spPr>
          <a:xfrm>
            <a:off x="7315200" y="5212080"/>
            <a:ext cx="4297680" cy="804672"/>
          </a:xfrm>
          <a:prstGeom prst="ellipse">
            <a:avLst/>
          </a:prstGeom>
          <a:solidFill>
            <a:srgbClr val="22140A"/>
          </a:solidFill>
          <a:ln cap="flat" cmpd="sng" w="9525">
            <a:solidFill>
              <a:srgbClr val="7B441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5"/>
          <p:cNvSpPr txBox="1"/>
          <p:nvPr/>
        </p:nvSpPr>
        <p:spPr>
          <a:xfrm>
            <a:off x="8206919" y="5349240"/>
            <a:ext cx="1005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C48B4A"/>
                </a:solidFill>
                <a:latin typeface="Calibri"/>
                <a:ea typeface="Calibri"/>
                <a:cs typeface="Calibri"/>
                <a:sym typeface="Calibri"/>
              </a:rPr>
              <a:t>110+</a:t>
            </a:r>
            <a:endParaRPr/>
          </a:p>
        </p:txBody>
      </p:sp>
      <p:sp>
        <p:nvSpPr>
          <p:cNvPr id="167" name="Google Shape;167;p15"/>
          <p:cNvSpPr txBox="1"/>
          <p:nvPr/>
        </p:nvSpPr>
        <p:spPr>
          <a:xfrm>
            <a:off x="9212759" y="544068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Teszt eset</a:t>
            </a:r>
            <a:endParaRPr b="0" i="0" sz="1400" u="none" cap="none" strike="noStrike">
              <a:solidFill>
                <a:srgbClr val="F5E6C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6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E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6"/>
          <p:cNvSpPr/>
          <p:nvPr/>
        </p:nvSpPr>
        <p:spPr>
          <a:xfrm>
            <a:off x="0" y="502920"/>
            <a:ext cx="6094476" cy="73152"/>
          </a:xfrm>
          <a:prstGeom prst="rect">
            <a:avLst/>
          </a:prstGeom>
          <a:solidFill>
            <a:srgbClr val="EC489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6"/>
          <p:cNvSpPr/>
          <p:nvPr/>
        </p:nvSpPr>
        <p:spPr>
          <a:xfrm>
            <a:off x="6094476" y="502920"/>
            <a:ext cx="6094476" cy="73152"/>
          </a:xfrm>
          <a:prstGeom prst="rect">
            <a:avLst/>
          </a:prstGeom>
          <a:solidFill>
            <a:srgbClr val="9333E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6"/>
          <p:cNvSpPr txBox="1"/>
          <p:nvPr/>
        </p:nvSpPr>
        <p:spPr>
          <a:xfrm>
            <a:off x="365760" y="640080"/>
            <a:ext cx="114300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02  Funkciók áttekintése</a:t>
            </a:r>
            <a:endParaRPr/>
          </a:p>
        </p:txBody>
      </p:sp>
      <p:sp>
        <p:nvSpPr>
          <p:cNvPr id="176" name="Google Shape;176;p16"/>
          <p:cNvSpPr txBox="1"/>
          <p:nvPr/>
        </p:nvSpPr>
        <p:spPr>
          <a:xfrm>
            <a:off x="365760" y="150876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A webáruház főbb funkcionális területei</a:t>
            </a:r>
            <a:endParaRPr/>
          </a:p>
        </p:txBody>
      </p:sp>
      <p:sp>
        <p:nvSpPr>
          <p:cNvPr id="177" name="Google Shape;177;p16"/>
          <p:cNvSpPr/>
          <p:nvPr/>
        </p:nvSpPr>
        <p:spPr>
          <a:xfrm>
            <a:off x="320040" y="2148840"/>
            <a:ext cx="2697480" cy="4206240"/>
          </a:xfrm>
          <a:prstGeom prst="ellipse">
            <a:avLst/>
          </a:prstGeom>
          <a:solidFill>
            <a:srgbClr val="150D06"/>
          </a:solidFill>
          <a:ln cap="flat" cmpd="sng" w="9525">
            <a:solidFill>
              <a:srgbClr val="7B441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6"/>
          <p:cNvSpPr txBox="1"/>
          <p:nvPr/>
        </p:nvSpPr>
        <p:spPr>
          <a:xfrm>
            <a:off x="411479" y="2240280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🛒</a:t>
            </a:r>
            <a:endParaRPr/>
          </a:p>
        </p:txBody>
      </p:sp>
      <p:sp>
        <p:nvSpPr>
          <p:cNvPr id="179" name="Google Shape;179;p16"/>
          <p:cNvSpPr txBox="1"/>
          <p:nvPr/>
        </p:nvSpPr>
        <p:spPr>
          <a:xfrm>
            <a:off x="411479" y="2697480"/>
            <a:ext cx="2514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C48B4A"/>
                </a:solidFill>
                <a:latin typeface="Calibri"/>
                <a:ea typeface="Calibri"/>
                <a:cs typeface="Calibri"/>
                <a:sym typeface="Calibri"/>
              </a:rPr>
              <a:t>Termékek &amp; Kosár</a:t>
            </a:r>
            <a:endParaRPr/>
          </a:p>
        </p:txBody>
      </p:sp>
      <p:sp>
        <p:nvSpPr>
          <p:cNvPr id="180" name="Google Shape;180;p16"/>
          <p:cNvSpPr txBox="1"/>
          <p:nvPr/>
        </p:nvSpPr>
        <p:spPr>
          <a:xfrm>
            <a:off x="457200" y="3154680"/>
            <a:ext cx="242316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• 6 kávé termék (Cappuccino, Espresso, Ristretto,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  Latte, Americano, Doppio)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• Ár: 650–900 Ft / termék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• Tej típus: Mandula / Tehén / Zab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• Cukor: Nincs / 1 kanál / 2 kanál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• Mennyiség szabályozás (+/–)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• Valós idejű végösszeg</a:t>
            </a:r>
            <a:endParaRPr/>
          </a:p>
        </p:txBody>
      </p:sp>
      <p:sp>
        <p:nvSpPr>
          <p:cNvPr id="181" name="Google Shape;181;p16"/>
          <p:cNvSpPr/>
          <p:nvPr/>
        </p:nvSpPr>
        <p:spPr>
          <a:xfrm>
            <a:off x="3291840" y="2148840"/>
            <a:ext cx="2697480" cy="4206240"/>
          </a:xfrm>
          <a:prstGeom prst="ellipse">
            <a:avLst/>
          </a:prstGeom>
          <a:solidFill>
            <a:srgbClr val="150D06"/>
          </a:solidFill>
          <a:ln cap="flat" cmpd="sng" w="9525">
            <a:solidFill>
              <a:srgbClr val="7B441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6"/>
          <p:cNvSpPr txBox="1"/>
          <p:nvPr/>
        </p:nvSpPr>
        <p:spPr>
          <a:xfrm>
            <a:off x="3383280" y="2240280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💳</a:t>
            </a:r>
            <a:endParaRPr/>
          </a:p>
        </p:txBody>
      </p:sp>
      <p:sp>
        <p:nvSpPr>
          <p:cNvPr id="183" name="Google Shape;183;p16"/>
          <p:cNvSpPr txBox="1"/>
          <p:nvPr/>
        </p:nvSpPr>
        <p:spPr>
          <a:xfrm>
            <a:off x="3383280" y="2697480"/>
            <a:ext cx="2514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C48B4A"/>
                </a:solidFill>
                <a:latin typeface="Calibri"/>
                <a:ea typeface="Calibri"/>
                <a:cs typeface="Calibri"/>
                <a:sym typeface="Calibri"/>
              </a:rPr>
              <a:t>Pénztár (Checkout)</a:t>
            </a:r>
            <a:endParaRPr/>
          </a:p>
        </p:txBody>
      </p:sp>
      <p:sp>
        <p:nvSpPr>
          <p:cNvPr id="184" name="Google Shape;184;p16"/>
          <p:cNvSpPr txBox="1"/>
          <p:nvPr/>
        </p:nvSpPr>
        <p:spPr>
          <a:xfrm>
            <a:off x="3429000" y="3154680"/>
            <a:ext cx="242316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• Rendelési űrlap validációval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• Mezők: név, email, telefon,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  irányítószám, település, cím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• Rendelés összesítő oldalsáv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• Automatikus kosár ürítés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• Visszairányítás főoldalra</a:t>
            </a:r>
            <a:endParaRPr/>
          </a:p>
        </p:txBody>
      </p:sp>
      <p:sp>
        <p:nvSpPr>
          <p:cNvPr id="185" name="Google Shape;185;p16"/>
          <p:cNvSpPr/>
          <p:nvPr/>
        </p:nvSpPr>
        <p:spPr>
          <a:xfrm>
            <a:off x="6263640" y="2148840"/>
            <a:ext cx="2697480" cy="4206240"/>
          </a:xfrm>
          <a:prstGeom prst="ellipse">
            <a:avLst/>
          </a:prstGeom>
          <a:solidFill>
            <a:srgbClr val="150D06"/>
          </a:solidFill>
          <a:ln cap="flat" cmpd="sng" w="9525">
            <a:solidFill>
              <a:srgbClr val="7B441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6"/>
          <p:cNvSpPr txBox="1"/>
          <p:nvPr/>
        </p:nvSpPr>
        <p:spPr>
          <a:xfrm>
            <a:off x="6355079" y="2240280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🔐</a:t>
            </a:r>
            <a:endParaRPr/>
          </a:p>
        </p:txBody>
      </p:sp>
      <p:sp>
        <p:nvSpPr>
          <p:cNvPr id="187" name="Google Shape;187;p16"/>
          <p:cNvSpPr txBox="1"/>
          <p:nvPr/>
        </p:nvSpPr>
        <p:spPr>
          <a:xfrm>
            <a:off x="6355079" y="2697480"/>
            <a:ext cx="2514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C48B4A"/>
                </a:solidFill>
                <a:latin typeface="Calibri"/>
                <a:ea typeface="Calibri"/>
                <a:cs typeface="Calibri"/>
                <a:sym typeface="Calibri"/>
              </a:rPr>
              <a:t>Admin Felület</a:t>
            </a:r>
            <a:endParaRPr/>
          </a:p>
        </p:txBody>
      </p:sp>
      <p:sp>
        <p:nvSpPr>
          <p:cNvPr id="188" name="Google Shape;188;p16"/>
          <p:cNvSpPr txBox="1"/>
          <p:nvPr/>
        </p:nvSpPr>
        <p:spPr>
          <a:xfrm>
            <a:off x="6400800" y="3154680"/>
            <a:ext cx="242316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• JWT token alapú belépés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  (admin / Minad123!)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• Rendelések táblázatos listája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• Vevő adatok megtekintése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• Postázás státusz kezelés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• Rendelés részletek modal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• Rendelés törlés</a:t>
            </a:r>
            <a:endParaRPr/>
          </a:p>
        </p:txBody>
      </p:sp>
      <p:sp>
        <p:nvSpPr>
          <p:cNvPr id="189" name="Google Shape;189;p16"/>
          <p:cNvSpPr/>
          <p:nvPr/>
        </p:nvSpPr>
        <p:spPr>
          <a:xfrm>
            <a:off x="9235440" y="2148840"/>
            <a:ext cx="2697480" cy="4206240"/>
          </a:xfrm>
          <a:prstGeom prst="ellipse">
            <a:avLst/>
          </a:prstGeom>
          <a:solidFill>
            <a:srgbClr val="150D06"/>
          </a:solidFill>
          <a:ln cap="flat" cmpd="sng" w="9525">
            <a:solidFill>
              <a:srgbClr val="7B441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6"/>
          <p:cNvSpPr txBox="1"/>
          <p:nvPr/>
        </p:nvSpPr>
        <p:spPr>
          <a:xfrm>
            <a:off x="9326880" y="2240280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🌙</a:t>
            </a:r>
            <a:endParaRPr/>
          </a:p>
        </p:txBody>
      </p:sp>
      <p:sp>
        <p:nvSpPr>
          <p:cNvPr id="191" name="Google Shape;191;p16"/>
          <p:cNvSpPr txBox="1"/>
          <p:nvPr/>
        </p:nvSpPr>
        <p:spPr>
          <a:xfrm>
            <a:off x="9326880" y="2697480"/>
            <a:ext cx="2514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C48B4A"/>
                </a:solidFill>
                <a:latin typeface="Calibri"/>
                <a:ea typeface="Calibri"/>
                <a:cs typeface="Calibri"/>
                <a:sym typeface="Calibri"/>
              </a:rPr>
              <a:t>Téma Rendszer</a:t>
            </a:r>
            <a:endParaRPr/>
          </a:p>
        </p:txBody>
      </p:sp>
      <p:sp>
        <p:nvSpPr>
          <p:cNvPr id="192" name="Google Shape;192;p16"/>
          <p:cNvSpPr txBox="1"/>
          <p:nvPr/>
        </p:nvSpPr>
        <p:spPr>
          <a:xfrm>
            <a:off x="9372600" y="3154680"/>
            <a:ext cx="242316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• Világos ↔ Sötét mód váltás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• localStorage mentés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• 700ms smooth átmenet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• Dekorációk: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  ☀ Felhők + nap (light)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  ★ Csillagok + hold (dark)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7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E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7"/>
          <p:cNvSpPr/>
          <p:nvPr/>
        </p:nvSpPr>
        <p:spPr>
          <a:xfrm>
            <a:off x="0" y="502920"/>
            <a:ext cx="6094476" cy="73152"/>
          </a:xfrm>
          <a:prstGeom prst="rect">
            <a:avLst/>
          </a:prstGeom>
          <a:solidFill>
            <a:srgbClr val="EC489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7"/>
          <p:cNvSpPr/>
          <p:nvPr/>
        </p:nvSpPr>
        <p:spPr>
          <a:xfrm>
            <a:off x="6094476" y="502920"/>
            <a:ext cx="6094476" cy="73152"/>
          </a:xfrm>
          <a:prstGeom prst="rect">
            <a:avLst/>
          </a:prstGeom>
          <a:solidFill>
            <a:srgbClr val="9333E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7"/>
          <p:cNvSpPr txBox="1"/>
          <p:nvPr/>
        </p:nvSpPr>
        <p:spPr>
          <a:xfrm>
            <a:off x="365760" y="640080"/>
            <a:ext cx="114300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03  Technológiai Stack</a:t>
            </a:r>
            <a:endParaRPr/>
          </a:p>
        </p:txBody>
      </p:sp>
      <p:sp>
        <p:nvSpPr>
          <p:cNvPr id="201" name="Google Shape;201;p17"/>
          <p:cNvSpPr txBox="1"/>
          <p:nvPr/>
        </p:nvSpPr>
        <p:spPr>
          <a:xfrm>
            <a:off x="365760" y="150876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A projekt által felhasznált főbb technológiák</a:t>
            </a:r>
            <a:endParaRPr/>
          </a:p>
        </p:txBody>
      </p:sp>
      <p:sp>
        <p:nvSpPr>
          <p:cNvPr id="202" name="Google Shape;202;p17"/>
          <p:cNvSpPr/>
          <p:nvPr/>
        </p:nvSpPr>
        <p:spPr>
          <a:xfrm>
            <a:off x="320040" y="2148840"/>
            <a:ext cx="3703320" cy="475488"/>
          </a:xfrm>
          <a:prstGeom prst="ellipse">
            <a:avLst/>
          </a:prstGeom>
          <a:solidFill>
            <a:srgbClr val="7B441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7"/>
          <p:cNvSpPr txBox="1"/>
          <p:nvPr/>
        </p:nvSpPr>
        <p:spPr>
          <a:xfrm>
            <a:off x="411479" y="2176272"/>
            <a:ext cx="3520439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/>
          </a:p>
        </p:txBody>
      </p:sp>
      <p:sp>
        <p:nvSpPr>
          <p:cNvPr id="204" name="Google Shape;204;p17"/>
          <p:cNvSpPr txBox="1"/>
          <p:nvPr/>
        </p:nvSpPr>
        <p:spPr>
          <a:xfrm>
            <a:off x="502920" y="2743200"/>
            <a:ext cx="3429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C48B4A"/>
                </a:solidFill>
                <a:latin typeface="Calibri"/>
                <a:ea typeface="Calibri"/>
                <a:cs typeface="Calibri"/>
                <a:sym typeface="Calibri"/>
              </a:rPr>
              <a:t>SvelteKit 2.49.1</a:t>
            </a:r>
            <a:endParaRPr/>
          </a:p>
        </p:txBody>
      </p:sp>
      <p:sp>
        <p:nvSpPr>
          <p:cNvPr id="205" name="Google Shape;205;p17"/>
          <p:cNvSpPr txBox="1"/>
          <p:nvPr/>
        </p:nvSpPr>
        <p:spPr>
          <a:xfrm>
            <a:off x="502920" y="3017520"/>
            <a:ext cx="3429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Meta-framework (SSR, routing, build)</a:t>
            </a:r>
            <a:endParaRPr/>
          </a:p>
        </p:txBody>
      </p:sp>
      <p:sp>
        <p:nvSpPr>
          <p:cNvPr id="206" name="Google Shape;206;p17"/>
          <p:cNvSpPr txBox="1"/>
          <p:nvPr/>
        </p:nvSpPr>
        <p:spPr>
          <a:xfrm>
            <a:off x="502920" y="3364992"/>
            <a:ext cx="3429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C48B4A"/>
                </a:solidFill>
                <a:latin typeface="Calibri"/>
                <a:ea typeface="Calibri"/>
                <a:cs typeface="Calibri"/>
                <a:sym typeface="Calibri"/>
              </a:rPr>
              <a:t>Svelte 5.45.6</a:t>
            </a:r>
            <a:endParaRPr/>
          </a:p>
        </p:txBody>
      </p:sp>
      <p:sp>
        <p:nvSpPr>
          <p:cNvPr id="207" name="Google Shape;207;p17"/>
          <p:cNvSpPr txBox="1"/>
          <p:nvPr/>
        </p:nvSpPr>
        <p:spPr>
          <a:xfrm>
            <a:off x="502920" y="3639312"/>
            <a:ext cx="3429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Reaktív komponens framework (Runes API)</a:t>
            </a:r>
            <a:endParaRPr/>
          </a:p>
        </p:txBody>
      </p:sp>
      <p:sp>
        <p:nvSpPr>
          <p:cNvPr id="208" name="Google Shape;208;p17"/>
          <p:cNvSpPr txBox="1"/>
          <p:nvPr/>
        </p:nvSpPr>
        <p:spPr>
          <a:xfrm>
            <a:off x="502920" y="3986784"/>
            <a:ext cx="3429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C48B4A"/>
                </a:solidFill>
                <a:latin typeface="Calibri"/>
                <a:ea typeface="Calibri"/>
                <a:cs typeface="Calibri"/>
                <a:sym typeface="Calibri"/>
              </a:rPr>
              <a:t>Tailwind CSS 4.1.17</a:t>
            </a:r>
            <a:endParaRPr/>
          </a:p>
        </p:txBody>
      </p:sp>
      <p:sp>
        <p:nvSpPr>
          <p:cNvPr id="209" name="Google Shape;209;p17"/>
          <p:cNvSpPr txBox="1"/>
          <p:nvPr/>
        </p:nvSpPr>
        <p:spPr>
          <a:xfrm>
            <a:off x="502920" y="4261104"/>
            <a:ext cx="3429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Utility-first CSS framework</a:t>
            </a:r>
            <a:endParaRPr/>
          </a:p>
        </p:txBody>
      </p:sp>
      <p:sp>
        <p:nvSpPr>
          <p:cNvPr id="210" name="Google Shape;210;p17"/>
          <p:cNvSpPr txBox="1"/>
          <p:nvPr/>
        </p:nvSpPr>
        <p:spPr>
          <a:xfrm>
            <a:off x="502920" y="4608576"/>
            <a:ext cx="3429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C48B4A"/>
                </a:solidFill>
                <a:latin typeface="Calibri"/>
                <a:ea typeface="Calibri"/>
                <a:cs typeface="Calibri"/>
                <a:sym typeface="Calibri"/>
              </a:rPr>
              <a:t>shadcn-svelte 1.1.0</a:t>
            </a:r>
            <a:endParaRPr/>
          </a:p>
        </p:txBody>
      </p:sp>
      <p:sp>
        <p:nvSpPr>
          <p:cNvPr id="211" name="Google Shape;211;p17"/>
          <p:cNvSpPr txBox="1"/>
          <p:nvPr/>
        </p:nvSpPr>
        <p:spPr>
          <a:xfrm>
            <a:off x="502920" y="4882896"/>
            <a:ext cx="3429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Újrafelhasználható UI komponensek</a:t>
            </a:r>
            <a:endParaRPr/>
          </a:p>
        </p:txBody>
      </p:sp>
      <p:sp>
        <p:nvSpPr>
          <p:cNvPr id="212" name="Google Shape;212;p17"/>
          <p:cNvSpPr txBox="1"/>
          <p:nvPr/>
        </p:nvSpPr>
        <p:spPr>
          <a:xfrm>
            <a:off x="502920" y="5230368"/>
            <a:ext cx="3429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C48B4A"/>
                </a:solidFill>
                <a:latin typeface="Calibri"/>
                <a:ea typeface="Calibri"/>
                <a:cs typeface="Calibri"/>
                <a:sym typeface="Calibri"/>
              </a:rPr>
              <a:t>TypeScript 5.9.3</a:t>
            </a:r>
            <a:endParaRPr/>
          </a:p>
        </p:txBody>
      </p:sp>
      <p:sp>
        <p:nvSpPr>
          <p:cNvPr id="213" name="Google Shape;213;p17"/>
          <p:cNvSpPr txBox="1"/>
          <p:nvPr/>
        </p:nvSpPr>
        <p:spPr>
          <a:xfrm>
            <a:off x="502920" y="5504688"/>
            <a:ext cx="3429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Statikus típusellenőrzés</a:t>
            </a:r>
            <a:endParaRPr/>
          </a:p>
        </p:txBody>
      </p:sp>
      <p:sp>
        <p:nvSpPr>
          <p:cNvPr id="214" name="Google Shape;214;p17"/>
          <p:cNvSpPr txBox="1"/>
          <p:nvPr/>
        </p:nvSpPr>
        <p:spPr>
          <a:xfrm>
            <a:off x="502920" y="5852160"/>
            <a:ext cx="3429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C48B4A"/>
                </a:solidFill>
                <a:latin typeface="Calibri"/>
                <a:ea typeface="Calibri"/>
                <a:cs typeface="Calibri"/>
                <a:sym typeface="Calibri"/>
              </a:rPr>
              <a:t>@lucide/svelte</a:t>
            </a:r>
            <a:endParaRPr/>
          </a:p>
        </p:txBody>
      </p:sp>
      <p:sp>
        <p:nvSpPr>
          <p:cNvPr id="215" name="Google Shape;215;p17"/>
          <p:cNvSpPr txBox="1"/>
          <p:nvPr/>
        </p:nvSpPr>
        <p:spPr>
          <a:xfrm>
            <a:off x="502920" y="6126480"/>
            <a:ext cx="3429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Ikon könyvtár</a:t>
            </a:r>
            <a:endParaRPr/>
          </a:p>
        </p:txBody>
      </p:sp>
      <p:sp>
        <p:nvSpPr>
          <p:cNvPr id="216" name="Google Shape;216;p17"/>
          <p:cNvSpPr/>
          <p:nvPr/>
        </p:nvSpPr>
        <p:spPr>
          <a:xfrm>
            <a:off x="4206240" y="2148840"/>
            <a:ext cx="3703320" cy="475488"/>
          </a:xfrm>
          <a:prstGeom prst="ellipse">
            <a:avLst/>
          </a:prstGeom>
          <a:solidFill>
            <a:srgbClr val="003B5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7"/>
          <p:cNvSpPr txBox="1"/>
          <p:nvPr/>
        </p:nvSpPr>
        <p:spPr>
          <a:xfrm>
            <a:off x="4297679" y="2176272"/>
            <a:ext cx="3520439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/>
          </a:p>
        </p:txBody>
      </p:sp>
      <p:sp>
        <p:nvSpPr>
          <p:cNvPr id="218" name="Google Shape;218;p17"/>
          <p:cNvSpPr txBox="1"/>
          <p:nvPr/>
        </p:nvSpPr>
        <p:spPr>
          <a:xfrm>
            <a:off x="4389120" y="2743200"/>
            <a:ext cx="3429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C48B4A"/>
                </a:solidFill>
                <a:latin typeface="Calibri"/>
                <a:ea typeface="Calibri"/>
                <a:cs typeface="Calibri"/>
                <a:sym typeface="Calibri"/>
              </a:rPr>
              <a:t>Express.js 4.22.1</a:t>
            </a:r>
            <a:endParaRPr/>
          </a:p>
        </p:txBody>
      </p:sp>
      <p:sp>
        <p:nvSpPr>
          <p:cNvPr id="219" name="Google Shape;219;p17"/>
          <p:cNvSpPr txBox="1"/>
          <p:nvPr/>
        </p:nvSpPr>
        <p:spPr>
          <a:xfrm>
            <a:off x="4389120" y="3017520"/>
            <a:ext cx="3429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REST API szerver (Node.js)</a:t>
            </a:r>
            <a:endParaRPr/>
          </a:p>
        </p:txBody>
      </p:sp>
      <p:sp>
        <p:nvSpPr>
          <p:cNvPr id="220" name="Google Shape;220;p17"/>
          <p:cNvSpPr txBox="1"/>
          <p:nvPr/>
        </p:nvSpPr>
        <p:spPr>
          <a:xfrm>
            <a:off x="4389120" y="3364992"/>
            <a:ext cx="3429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C48B4A"/>
                </a:solidFill>
                <a:latin typeface="Calibri"/>
                <a:ea typeface="Calibri"/>
                <a:cs typeface="Calibri"/>
                <a:sym typeface="Calibri"/>
              </a:rPr>
              <a:t>better-sqlite3</a:t>
            </a:r>
            <a:endParaRPr/>
          </a:p>
        </p:txBody>
      </p:sp>
      <p:sp>
        <p:nvSpPr>
          <p:cNvPr id="221" name="Google Shape;221;p17"/>
          <p:cNvSpPr txBox="1"/>
          <p:nvPr/>
        </p:nvSpPr>
        <p:spPr>
          <a:xfrm>
            <a:off x="4389120" y="3639312"/>
            <a:ext cx="3429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Szinkron SQLite driver</a:t>
            </a:r>
            <a:endParaRPr/>
          </a:p>
        </p:txBody>
      </p:sp>
      <p:sp>
        <p:nvSpPr>
          <p:cNvPr id="222" name="Google Shape;222;p17"/>
          <p:cNvSpPr txBox="1"/>
          <p:nvPr/>
        </p:nvSpPr>
        <p:spPr>
          <a:xfrm>
            <a:off x="4389120" y="3986784"/>
            <a:ext cx="3429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C48B4A"/>
                </a:solidFill>
                <a:latin typeface="Calibri"/>
                <a:ea typeface="Calibri"/>
                <a:cs typeface="Calibri"/>
                <a:sym typeface="Calibri"/>
              </a:rPr>
              <a:t>bcrypt 5.1.1</a:t>
            </a:r>
            <a:endParaRPr/>
          </a:p>
        </p:txBody>
      </p:sp>
      <p:sp>
        <p:nvSpPr>
          <p:cNvPr id="223" name="Google Shape;223;p17"/>
          <p:cNvSpPr txBox="1"/>
          <p:nvPr/>
        </p:nvSpPr>
        <p:spPr>
          <a:xfrm>
            <a:off x="4389120" y="4261104"/>
            <a:ext cx="3429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Jelszó hash-elés</a:t>
            </a:r>
            <a:endParaRPr/>
          </a:p>
        </p:txBody>
      </p:sp>
      <p:sp>
        <p:nvSpPr>
          <p:cNvPr id="224" name="Google Shape;224;p17"/>
          <p:cNvSpPr txBox="1"/>
          <p:nvPr/>
        </p:nvSpPr>
        <p:spPr>
          <a:xfrm>
            <a:off x="4389120" y="4608576"/>
            <a:ext cx="3429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C48B4A"/>
                </a:solidFill>
                <a:latin typeface="Calibri"/>
                <a:ea typeface="Calibri"/>
                <a:cs typeface="Calibri"/>
                <a:sym typeface="Calibri"/>
              </a:rPr>
              <a:t>jsonwebtoken 9.0.3</a:t>
            </a:r>
            <a:endParaRPr/>
          </a:p>
        </p:txBody>
      </p:sp>
      <p:sp>
        <p:nvSpPr>
          <p:cNvPr id="225" name="Google Shape;225;p17"/>
          <p:cNvSpPr txBox="1"/>
          <p:nvPr/>
        </p:nvSpPr>
        <p:spPr>
          <a:xfrm>
            <a:off x="4389120" y="4882896"/>
            <a:ext cx="3429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JWT token autentikáció</a:t>
            </a:r>
            <a:endParaRPr/>
          </a:p>
        </p:txBody>
      </p:sp>
      <p:sp>
        <p:nvSpPr>
          <p:cNvPr id="226" name="Google Shape;226;p17"/>
          <p:cNvSpPr txBox="1"/>
          <p:nvPr/>
        </p:nvSpPr>
        <p:spPr>
          <a:xfrm>
            <a:off x="4389120" y="5230368"/>
            <a:ext cx="3429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C48B4A"/>
                </a:solidFill>
                <a:latin typeface="Calibri"/>
                <a:ea typeface="Calibri"/>
                <a:cs typeface="Calibri"/>
                <a:sym typeface="Calibri"/>
              </a:rPr>
              <a:t>cors 2.8.5</a:t>
            </a:r>
            <a:endParaRPr/>
          </a:p>
        </p:txBody>
      </p:sp>
      <p:sp>
        <p:nvSpPr>
          <p:cNvPr id="227" name="Google Shape;227;p17"/>
          <p:cNvSpPr txBox="1"/>
          <p:nvPr/>
        </p:nvSpPr>
        <p:spPr>
          <a:xfrm>
            <a:off x="4389120" y="5504688"/>
            <a:ext cx="3429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Cross-Origin Resource Sharing</a:t>
            </a:r>
            <a:endParaRPr/>
          </a:p>
        </p:txBody>
      </p:sp>
      <p:sp>
        <p:nvSpPr>
          <p:cNvPr id="228" name="Google Shape;228;p17"/>
          <p:cNvSpPr/>
          <p:nvPr/>
        </p:nvSpPr>
        <p:spPr>
          <a:xfrm>
            <a:off x="8092440" y="2148840"/>
            <a:ext cx="3703320" cy="475488"/>
          </a:xfrm>
          <a:prstGeom prst="ellipse">
            <a:avLst/>
          </a:prstGeom>
          <a:solidFill>
            <a:srgbClr val="1A1A2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7"/>
          <p:cNvSpPr txBox="1"/>
          <p:nvPr/>
        </p:nvSpPr>
        <p:spPr>
          <a:xfrm>
            <a:off x="8183879" y="2176272"/>
            <a:ext cx="3520439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Build &amp; Test</a:t>
            </a:r>
            <a:endParaRPr/>
          </a:p>
        </p:txBody>
      </p:sp>
      <p:sp>
        <p:nvSpPr>
          <p:cNvPr id="230" name="Google Shape;230;p17"/>
          <p:cNvSpPr txBox="1"/>
          <p:nvPr/>
        </p:nvSpPr>
        <p:spPr>
          <a:xfrm>
            <a:off x="8275319" y="2743200"/>
            <a:ext cx="3429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C48B4A"/>
                </a:solidFill>
                <a:latin typeface="Calibri"/>
                <a:ea typeface="Calibri"/>
                <a:cs typeface="Calibri"/>
                <a:sym typeface="Calibri"/>
              </a:rPr>
              <a:t>Vite 7.2.6</a:t>
            </a:r>
            <a:endParaRPr/>
          </a:p>
        </p:txBody>
      </p:sp>
      <p:sp>
        <p:nvSpPr>
          <p:cNvPr id="231" name="Google Shape;231;p17"/>
          <p:cNvSpPr txBox="1"/>
          <p:nvPr/>
        </p:nvSpPr>
        <p:spPr>
          <a:xfrm>
            <a:off x="8275319" y="3017520"/>
            <a:ext cx="3429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Gyors build tool és dev szerver</a:t>
            </a:r>
            <a:endParaRPr/>
          </a:p>
        </p:txBody>
      </p:sp>
      <p:sp>
        <p:nvSpPr>
          <p:cNvPr id="232" name="Google Shape;232;p17"/>
          <p:cNvSpPr txBox="1"/>
          <p:nvPr/>
        </p:nvSpPr>
        <p:spPr>
          <a:xfrm>
            <a:off x="8275319" y="3364992"/>
            <a:ext cx="3429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C48B4A"/>
                </a:solidFill>
                <a:latin typeface="Calibri"/>
                <a:ea typeface="Calibri"/>
                <a:cs typeface="Calibri"/>
                <a:sym typeface="Calibri"/>
              </a:rPr>
              <a:t>Vitest 4.0.18</a:t>
            </a:r>
            <a:endParaRPr/>
          </a:p>
        </p:txBody>
      </p:sp>
      <p:sp>
        <p:nvSpPr>
          <p:cNvPr id="233" name="Google Shape;233;p17"/>
          <p:cNvSpPr txBox="1"/>
          <p:nvPr/>
        </p:nvSpPr>
        <p:spPr>
          <a:xfrm>
            <a:off x="8275319" y="3639312"/>
            <a:ext cx="3429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Unit és integrációs tesztelés</a:t>
            </a:r>
            <a:endParaRPr/>
          </a:p>
        </p:txBody>
      </p:sp>
      <p:sp>
        <p:nvSpPr>
          <p:cNvPr id="234" name="Google Shape;234;p17"/>
          <p:cNvSpPr txBox="1"/>
          <p:nvPr/>
        </p:nvSpPr>
        <p:spPr>
          <a:xfrm>
            <a:off x="8275319" y="3986784"/>
            <a:ext cx="3429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C48B4A"/>
                </a:solidFill>
                <a:latin typeface="Calibri"/>
                <a:ea typeface="Calibri"/>
                <a:cs typeface="Calibri"/>
                <a:sym typeface="Calibri"/>
              </a:rPr>
              <a:t>concurrently</a:t>
            </a:r>
            <a:endParaRPr/>
          </a:p>
        </p:txBody>
      </p:sp>
      <p:sp>
        <p:nvSpPr>
          <p:cNvPr id="235" name="Google Shape;235;p17"/>
          <p:cNvSpPr txBox="1"/>
          <p:nvPr/>
        </p:nvSpPr>
        <p:spPr>
          <a:xfrm>
            <a:off x="8275319" y="4261104"/>
            <a:ext cx="3429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Frontend + backend párhuzamos futtatás</a:t>
            </a:r>
            <a:endParaRPr/>
          </a:p>
        </p:txBody>
      </p:sp>
      <p:sp>
        <p:nvSpPr>
          <p:cNvPr id="236" name="Google Shape;236;p17"/>
          <p:cNvSpPr txBox="1"/>
          <p:nvPr/>
        </p:nvSpPr>
        <p:spPr>
          <a:xfrm>
            <a:off x="8275319" y="4608576"/>
            <a:ext cx="3429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C48B4A"/>
                </a:solidFill>
                <a:latin typeface="Calibri"/>
                <a:ea typeface="Calibri"/>
                <a:cs typeface="Calibri"/>
                <a:sym typeface="Calibri"/>
              </a:rPr>
              <a:t>jsdom 27.4.0</a:t>
            </a:r>
            <a:endParaRPr/>
          </a:p>
        </p:txBody>
      </p:sp>
      <p:sp>
        <p:nvSpPr>
          <p:cNvPr id="237" name="Google Shape;237;p17"/>
          <p:cNvSpPr txBox="1"/>
          <p:nvPr/>
        </p:nvSpPr>
        <p:spPr>
          <a:xfrm>
            <a:off x="8275319" y="4882896"/>
            <a:ext cx="3429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DOM szimuláció tesztekhez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8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E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8"/>
          <p:cNvSpPr/>
          <p:nvPr/>
        </p:nvSpPr>
        <p:spPr>
          <a:xfrm>
            <a:off x="0" y="502920"/>
            <a:ext cx="6094476" cy="73152"/>
          </a:xfrm>
          <a:prstGeom prst="rect">
            <a:avLst/>
          </a:prstGeom>
          <a:solidFill>
            <a:srgbClr val="EC489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8"/>
          <p:cNvSpPr/>
          <p:nvPr/>
        </p:nvSpPr>
        <p:spPr>
          <a:xfrm>
            <a:off x="6094476" y="502920"/>
            <a:ext cx="6094476" cy="73152"/>
          </a:xfrm>
          <a:prstGeom prst="rect">
            <a:avLst/>
          </a:prstGeom>
          <a:solidFill>
            <a:srgbClr val="9333E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8"/>
          <p:cNvSpPr txBox="1"/>
          <p:nvPr/>
        </p:nvSpPr>
        <p:spPr>
          <a:xfrm>
            <a:off x="365760" y="640080"/>
            <a:ext cx="114300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05  Adatbázis</a:t>
            </a:r>
            <a:endParaRPr/>
          </a:p>
        </p:txBody>
      </p:sp>
      <p:sp>
        <p:nvSpPr>
          <p:cNvPr id="246" name="Google Shape;246;p18"/>
          <p:cNvSpPr txBox="1"/>
          <p:nvPr/>
        </p:nvSpPr>
        <p:spPr>
          <a:xfrm>
            <a:off x="365760" y="150876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SQLite 3 – könnyűsúlyú, fájl alapú relációs adatbázis</a:t>
            </a:r>
            <a:endParaRPr/>
          </a:p>
        </p:txBody>
      </p:sp>
      <p:sp>
        <p:nvSpPr>
          <p:cNvPr id="247" name="Google Shape;247;p18"/>
          <p:cNvSpPr/>
          <p:nvPr/>
        </p:nvSpPr>
        <p:spPr>
          <a:xfrm>
            <a:off x="320040" y="2148840"/>
            <a:ext cx="2743200" cy="457200"/>
          </a:xfrm>
          <a:prstGeom prst="ellipse">
            <a:avLst/>
          </a:prstGeom>
          <a:solidFill>
            <a:srgbClr val="4E270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8"/>
          <p:cNvSpPr txBox="1"/>
          <p:nvPr/>
        </p:nvSpPr>
        <p:spPr>
          <a:xfrm>
            <a:off x="411479" y="2176272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termekek</a:t>
            </a:r>
            <a:endParaRPr/>
          </a:p>
        </p:txBody>
      </p:sp>
      <p:sp>
        <p:nvSpPr>
          <p:cNvPr id="249" name="Google Shape;249;p18"/>
          <p:cNvSpPr/>
          <p:nvPr/>
        </p:nvSpPr>
        <p:spPr>
          <a:xfrm>
            <a:off x="320040" y="2715768"/>
            <a:ext cx="2743200" cy="475488"/>
          </a:xfrm>
          <a:prstGeom prst="rect">
            <a:avLst/>
          </a:prstGeom>
          <a:solidFill>
            <a:srgbClr val="120A0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8"/>
          <p:cNvSpPr txBox="1"/>
          <p:nvPr/>
        </p:nvSpPr>
        <p:spPr>
          <a:xfrm>
            <a:off x="411479" y="2761488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id  TEXT  PK</a:t>
            </a:r>
            <a:endParaRPr/>
          </a:p>
        </p:txBody>
      </p:sp>
      <p:sp>
        <p:nvSpPr>
          <p:cNvPr id="251" name="Google Shape;251;p18"/>
          <p:cNvSpPr/>
          <p:nvPr/>
        </p:nvSpPr>
        <p:spPr>
          <a:xfrm>
            <a:off x="320040" y="3246120"/>
            <a:ext cx="2743200" cy="475488"/>
          </a:xfrm>
          <a:prstGeom prst="rect">
            <a:avLst/>
          </a:prstGeom>
          <a:solidFill>
            <a:srgbClr val="1C100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8"/>
          <p:cNvSpPr txBox="1"/>
          <p:nvPr/>
        </p:nvSpPr>
        <p:spPr>
          <a:xfrm>
            <a:off x="411479" y="3291840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nev  TEXT  NOT NULL</a:t>
            </a:r>
            <a:endParaRPr/>
          </a:p>
        </p:txBody>
      </p:sp>
      <p:sp>
        <p:nvSpPr>
          <p:cNvPr id="253" name="Google Shape;253;p18"/>
          <p:cNvSpPr/>
          <p:nvPr/>
        </p:nvSpPr>
        <p:spPr>
          <a:xfrm>
            <a:off x="320040" y="3776472"/>
            <a:ext cx="2743200" cy="475488"/>
          </a:xfrm>
          <a:prstGeom prst="rect">
            <a:avLst/>
          </a:prstGeom>
          <a:solidFill>
            <a:srgbClr val="120A0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8"/>
          <p:cNvSpPr txBox="1"/>
          <p:nvPr/>
        </p:nvSpPr>
        <p:spPr>
          <a:xfrm>
            <a:off x="411479" y="3822191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ar  INTEGER  NOT NULL</a:t>
            </a:r>
            <a:endParaRPr/>
          </a:p>
        </p:txBody>
      </p:sp>
      <p:sp>
        <p:nvSpPr>
          <p:cNvPr id="255" name="Google Shape;255;p18"/>
          <p:cNvSpPr/>
          <p:nvPr/>
        </p:nvSpPr>
        <p:spPr>
          <a:xfrm>
            <a:off x="320040" y="4306824"/>
            <a:ext cx="2743200" cy="475488"/>
          </a:xfrm>
          <a:prstGeom prst="rect">
            <a:avLst/>
          </a:prstGeom>
          <a:solidFill>
            <a:srgbClr val="1C100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8"/>
          <p:cNvSpPr txBox="1"/>
          <p:nvPr/>
        </p:nvSpPr>
        <p:spPr>
          <a:xfrm>
            <a:off x="411479" y="4352544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kep_url  TEXT</a:t>
            </a:r>
            <a:endParaRPr/>
          </a:p>
        </p:txBody>
      </p:sp>
      <p:sp>
        <p:nvSpPr>
          <p:cNvPr id="257" name="Google Shape;257;p18"/>
          <p:cNvSpPr/>
          <p:nvPr/>
        </p:nvSpPr>
        <p:spPr>
          <a:xfrm>
            <a:off x="3337560" y="2148840"/>
            <a:ext cx="2743200" cy="457200"/>
          </a:xfrm>
          <a:prstGeom prst="ellipse">
            <a:avLst/>
          </a:prstGeom>
          <a:solidFill>
            <a:srgbClr val="1E403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8"/>
          <p:cNvSpPr txBox="1"/>
          <p:nvPr/>
        </p:nvSpPr>
        <p:spPr>
          <a:xfrm>
            <a:off x="3429000" y="2176272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rendelesek</a:t>
            </a:r>
            <a:endParaRPr/>
          </a:p>
        </p:txBody>
      </p:sp>
      <p:sp>
        <p:nvSpPr>
          <p:cNvPr id="259" name="Google Shape;259;p18"/>
          <p:cNvSpPr/>
          <p:nvPr/>
        </p:nvSpPr>
        <p:spPr>
          <a:xfrm>
            <a:off x="3337560" y="2715768"/>
            <a:ext cx="2743200" cy="475488"/>
          </a:xfrm>
          <a:prstGeom prst="rect">
            <a:avLst/>
          </a:prstGeom>
          <a:solidFill>
            <a:srgbClr val="120A0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8"/>
          <p:cNvSpPr txBox="1"/>
          <p:nvPr/>
        </p:nvSpPr>
        <p:spPr>
          <a:xfrm>
            <a:off x="3429000" y="2761488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id  TEXT  PK</a:t>
            </a:r>
            <a:endParaRPr/>
          </a:p>
        </p:txBody>
      </p:sp>
      <p:sp>
        <p:nvSpPr>
          <p:cNvPr id="261" name="Google Shape;261;p18"/>
          <p:cNvSpPr/>
          <p:nvPr/>
        </p:nvSpPr>
        <p:spPr>
          <a:xfrm>
            <a:off x="3337560" y="3246120"/>
            <a:ext cx="2743200" cy="475488"/>
          </a:xfrm>
          <a:prstGeom prst="rect">
            <a:avLst/>
          </a:prstGeom>
          <a:solidFill>
            <a:srgbClr val="1C100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8"/>
          <p:cNvSpPr txBox="1"/>
          <p:nvPr/>
        </p:nvSpPr>
        <p:spPr>
          <a:xfrm>
            <a:off x="3429000" y="3291840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vevo_nev / email / telefon</a:t>
            </a:r>
            <a:endParaRPr/>
          </a:p>
        </p:txBody>
      </p:sp>
      <p:sp>
        <p:nvSpPr>
          <p:cNvPr id="263" name="Google Shape;263;p18"/>
          <p:cNvSpPr/>
          <p:nvPr/>
        </p:nvSpPr>
        <p:spPr>
          <a:xfrm>
            <a:off x="3337560" y="3776472"/>
            <a:ext cx="2743200" cy="475488"/>
          </a:xfrm>
          <a:prstGeom prst="rect">
            <a:avLst/>
          </a:prstGeom>
          <a:solidFill>
            <a:srgbClr val="120A0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8"/>
          <p:cNvSpPr txBox="1"/>
          <p:nvPr/>
        </p:nvSpPr>
        <p:spPr>
          <a:xfrm>
            <a:off x="3429000" y="3822191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iranyitoszam / telepules / utca_hazszam</a:t>
            </a:r>
            <a:endParaRPr/>
          </a:p>
        </p:txBody>
      </p:sp>
      <p:sp>
        <p:nvSpPr>
          <p:cNvPr id="265" name="Google Shape;265;p18"/>
          <p:cNvSpPr/>
          <p:nvPr/>
        </p:nvSpPr>
        <p:spPr>
          <a:xfrm>
            <a:off x="3337560" y="4306824"/>
            <a:ext cx="2743200" cy="475488"/>
          </a:xfrm>
          <a:prstGeom prst="rect">
            <a:avLst/>
          </a:prstGeom>
          <a:solidFill>
            <a:srgbClr val="1C100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8"/>
          <p:cNvSpPr txBox="1"/>
          <p:nvPr/>
        </p:nvSpPr>
        <p:spPr>
          <a:xfrm>
            <a:off x="3429000" y="4352544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megrendelve  TIMESTAMP</a:t>
            </a:r>
            <a:endParaRPr/>
          </a:p>
        </p:txBody>
      </p:sp>
      <p:sp>
        <p:nvSpPr>
          <p:cNvPr id="267" name="Google Shape;267;p18"/>
          <p:cNvSpPr/>
          <p:nvPr/>
        </p:nvSpPr>
        <p:spPr>
          <a:xfrm>
            <a:off x="3337560" y="4837176"/>
            <a:ext cx="2743200" cy="475488"/>
          </a:xfrm>
          <a:prstGeom prst="rect">
            <a:avLst/>
          </a:prstGeom>
          <a:solidFill>
            <a:srgbClr val="120A0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8"/>
          <p:cNvSpPr txBox="1"/>
          <p:nvPr/>
        </p:nvSpPr>
        <p:spPr>
          <a:xfrm>
            <a:off x="3429000" y="4882896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postazva  INTEGER  (0/1)</a:t>
            </a:r>
            <a:endParaRPr/>
          </a:p>
        </p:txBody>
      </p:sp>
      <p:sp>
        <p:nvSpPr>
          <p:cNvPr id="269" name="Google Shape;269;p18"/>
          <p:cNvSpPr/>
          <p:nvPr/>
        </p:nvSpPr>
        <p:spPr>
          <a:xfrm>
            <a:off x="3337560" y="5367528"/>
            <a:ext cx="2743200" cy="475488"/>
          </a:xfrm>
          <a:prstGeom prst="rect">
            <a:avLst/>
          </a:prstGeom>
          <a:solidFill>
            <a:srgbClr val="1C100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8"/>
          <p:cNvSpPr txBox="1"/>
          <p:nvPr/>
        </p:nvSpPr>
        <p:spPr>
          <a:xfrm>
            <a:off x="3429000" y="5413248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postazva_datum  TEXT</a:t>
            </a:r>
            <a:endParaRPr/>
          </a:p>
        </p:txBody>
      </p:sp>
      <p:sp>
        <p:nvSpPr>
          <p:cNvPr id="271" name="Google Shape;271;p18"/>
          <p:cNvSpPr/>
          <p:nvPr/>
        </p:nvSpPr>
        <p:spPr>
          <a:xfrm>
            <a:off x="6355080" y="2148840"/>
            <a:ext cx="2743200" cy="457200"/>
          </a:xfrm>
          <a:prstGeom prst="ellipse">
            <a:avLst/>
          </a:prstGeom>
          <a:solidFill>
            <a:srgbClr val="1A274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8"/>
          <p:cNvSpPr txBox="1"/>
          <p:nvPr/>
        </p:nvSpPr>
        <p:spPr>
          <a:xfrm>
            <a:off x="6446520" y="2176272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rendeles_tetelek</a:t>
            </a:r>
            <a:endParaRPr/>
          </a:p>
        </p:txBody>
      </p:sp>
      <p:sp>
        <p:nvSpPr>
          <p:cNvPr id="273" name="Google Shape;273;p18"/>
          <p:cNvSpPr/>
          <p:nvPr/>
        </p:nvSpPr>
        <p:spPr>
          <a:xfrm>
            <a:off x="6355080" y="2715768"/>
            <a:ext cx="2743200" cy="475488"/>
          </a:xfrm>
          <a:prstGeom prst="rect">
            <a:avLst/>
          </a:prstGeom>
          <a:solidFill>
            <a:srgbClr val="120A0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8"/>
          <p:cNvSpPr txBox="1"/>
          <p:nvPr/>
        </p:nvSpPr>
        <p:spPr>
          <a:xfrm>
            <a:off x="6446520" y="2761488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id  TEXT  PK</a:t>
            </a:r>
            <a:endParaRPr/>
          </a:p>
        </p:txBody>
      </p:sp>
      <p:sp>
        <p:nvSpPr>
          <p:cNvPr id="275" name="Google Shape;275;p18"/>
          <p:cNvSpPr/>
          <p:nvPr/>
        </p:nvSpPr>
        <p:spPr>
          <a:xfrm>
            <a:off x="6355080" y="3246120"/>
            <a:ext cx="2743200" cy="475488"/>
          </a:xfrm>
          <a:prstGeom prst="rect">
            <a:avLst/>
          </a:prstGeom>
          <a:solidFill>
            <a:srgbClr val="1C100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8"/>
          <p:cNvSpPr txBox="1"/>
          <p:nvPr/>
        </p:nvSpPr>
        <p:spPr>
          <a:xfrm>
            <a:off x="6446520" y="3291840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rendeles_id  FK → rendelesek</a:t>
            </a:r>
            <a:endParaRPr/>
          </a:p>
        </p:txBody>
      </p:sp>
      <p:sp>
        <p:nvSpPr>
          <p:cNvPr id="277" name="Google Shape;277;p18"/>
          <p:cNvSpPr/>
          <p:nvPr/>
        </p:nvSpPr>
        <p:spPr>
          <a:xfrm>
            <a:off x="6355080" y="3776472"/>
            <a:ext cx="2743200" cy="475488"/>
          </a:xfrm>
          <a:prstGeom prst="rect">
            <a:avLst/>
          </a:prstGeom>
          <a:solidFill>
            <a:srgbClr val="120A0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8"/>
          <p:cNvSpPr txBox="1"/>
          <p:nvPr/>
        </p:nvSpPr>
        <p:spPr>
          <a:xfrm>
            <a:off x="6446520" y="3822191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termek_nev / termek_ar  (snapshot)</a:t>
            </a:r>
            <a:endParaRPr/>
          </a:p>
        </p:txBody>
      </p:sp>
      <p:sp>
        <p:nvSpPr>
          <p:cNvPr id="279" name="Google Shape;279;p18"/>
          <p:cNvSpPr/>
          <p:nvPr/>
        </p:nvSpPr>
        <p:spPr>
          <a:xfrm>
            <a:off x="6355080" y="4306824"/>
            <a:ext cx="2743200" cy="475488"/>
          </a:xfrm>
          <a:prstGeom prst="rect">
            <a:avLst/>
          </a:prstGeom>
          <a:solidFill>
            <a:srgbClr val="1C100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8"/>
          <p:cNvSpPr txBox="1"/>
          <p:nvPr/>
        </p:nvSpPr>
        <p:spPr>
          <a:xfrm>
            <a:off x="6446520" y="4352544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mennyiseg  INTEGER</a:t>
            </a:r>
            <a:endParaRPr/>
          </a:p>
        </p:txBody>
      </p:sp>
      <p:sp>
        <p:nvSpPr>
          <p:cNvPr id="281" name="Google Shape;281;p18"/>
          <p:cNvSpPr/>
          <p:nvPr/>
        </p:nvSpPr>
        <p:spPr>
          <a:xfrm>
            <a:off x="6355080" y="4837176"/>
            <a:ext cx="2743200" cy="475488"/>
          </a:xfrm>
          <a:prstGeom prst="rect">
            <a:avLst/>
          </a:prstGeom>
          <a:solidFill>
            <a:srgbClr val="120A0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8"/>
          <p:cNvSpPr txBox="1"/>
          <p:nvPr/>
        </p:nvSpPr>
        <p:spPr>
          <a:xfrm>
            <a:off x="6446520" y="4882896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tej / cukor  TEXT</a:t>
            </a:r>
            <a:endParaRPr/>
          </a:p>
        </p:txBody>
      </p:sp>
      <p:sp>
        <p:nvSpPr>
          <p:cNvPr id="283" name="Google Shape;283;p18"/>
          <p:cNvSpPr/>
          <p:nvPr/>
        </p:nvSpPr>
        <p:spPr>
          <a:xfrm>
            <a:off x="9326880" y="2148840"/>
            <a:ext cx="2743200" cy="457200"/>
          </a:xfrm>
          <a:prstGeom prst="ellipse">
            <a:avLst/>
          </a:prstGeom>
          <a:solidFill>
            <a:srgbClr val="3B1A4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8"/>
          <p:cNvSpPr txBox="1"/>
          <p:nvPr/>
        </p:nvSpPr>
        <p:spPr>
          <a:xfrm>
            <a:off x="9418319" y="2176272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admin</a:t>
            </a:r>
            <a:endParaRPr/>
          </a:p>
        </p:txBody>
      </p:sp>
      <p:sp>
        <p:nvSpPr>
          <p:cNvPr id="285" name="Google Shape;285;p18"/>
          <p:cNvSpPr/>
          <p:nvPr/>
        </p:nvSpPr>
        <p:spPr>
          <a:xfrm>
            <a:off x="9326880" y="2715768"/>
            <a:ext cx="2743200" cy="475488"/>
          </a:xfrm>
          <a:prstGeom prst="rect">
            <a:avLst/>
          </a:prstGeom>
          <a:solidFill>
            <a:srgbClr val="120A0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8"/>
          <p:cNvSpPr txBox="1"/>
          <p:nvPr/>
        </p:nvSpPr>
        <p:spPr>
          <a:xfrm>
            <a:off x="9418319" y="2761488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id  TEXT  PK</a:t>
            </a:r>
            <a:endParaRPr/>
          </a:p>
        </p:txBody>
      </p:sp>
      <p:sp>
        <p:nvSpPr>
          <p:cNvPr id="287" name="Google Shape;287;p18"/>
          <p:cNvSpPr/>
          <p:nvPr/>
        </p:nvSpPr>
        <p:spPr>
          <a:xfrm>
            <a:off x="9326880" y="3246120"/>
            <a:ext cx="2743200" cy="475488"/>
          </a:xfrm>
          <a:prstGeom prst="rect">
            <a:avLst/>
          </a:prstGeom>
          <a:solidFill>
            <a:srgbClr val="1C100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8"/>
          <p:cNvSpPr txBox="1"/>
          <p:nvPr/>
        </p:nvSpPr>
        <p:spPr>
          <a:xfrm>
            <a:off x="9418319" y="3291840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felhasznalonev  TEXT  UNIQUE</a:t>
            </a:r>
            <a:endParaRPr/>
          </a:p>
        </p:txBody>
      </p:sp>
      <p:sp>
        <p:nvSpPr>
          <p:cNvPr id="289" name="Google Shape;289;p18"/>
          <p:cNvSpPr/>
          <p:nvPr/>
        </p:nvSpPr>
        <p:spPr>
          <a:xfrm>
            <a:off x="9326880" y="3776472"/>
            <a:ext cx="2743200" cy="475488"/>
          </a:xfrm>
          <a:prstGeom prst="rect">
            <a:avLst/>
          </a:prstGeom>
          <a:solidFill>
            <a:srgbClr val="120A0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8"/>
          <p:cNvSpPr txBox="1"/>
          <p:nvPr/>
        </p:nvSpPr>
        <p:spPr>
          <a:xfrm>
            <a:off x="9418319" y="3822191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jelszo_hash  TEXT  (bcrypt)</a:t>
            </a:r>
            <a:endParaRPr/>
          </a:p>
        </p:txBody>
      </p:sp>
      <p:sp>
        <p:nvSpPr>
          <p:cNvPr id="291" name="Google Shape;291;p18"/>
          <p:cNvSpPr/>
          <p:nvPr/>
        </p:nvSpPr>
        <p:spPr>
          <a:xfrm>
            <a:off x="9326880" y="4306824"/>
            <a:ext cx="2743200" cy="475488"/>
          </a:xfrm>
          <a:prstGeom prst="rect">
            <a:avLst/>
          </a:prstGeom>
          <a:solidFill>
            <a:srgbClr val="1C100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8"/>
          <p:cNvSpPr txBox="1"/>
          <p:nvPr/>
        </p:nvSpPr>
        <p:spPr>
          <a:xfrm>
            <a:off x="9418319" y="4352544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letrehozva  TIMESTAMP</a:t>
            </a:r>
            <a:endParaRPr/>
          </a:p>
        </p:txBody>
      </p:sp>
      <p:sp>
        <p:nvSpPr>
          <p:cNvPr id="293" name="Google Shape;293;p18"/>
          <p:cNvSpPr txBox="1"/>
          <p:nvPr/>
        </p:nvSpPr>
        <p:spPr>
          <a:xfrm>
            <a:off x="320040" y="6035040"/>
            <a:ext cx="11521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• ON DELETE CASCADE: rendeles_tetelek törlődnek a rendeléssel együtt</a:t>
            </a:r>
            <a:endParaRPr/>
          </a:p>
        </p:txBody>
      </p:sp>
      <p:sp>
        <p:nvSpPr>
          <p:cNvPr id="294" name="Google Shape;294;p18"/>
          <p:cNvSpPr txBox="1"/>
          <p:nvPr/>
        </p:nvSpPr>
        <p:spPr>
          <a:xfrm>
            <a:off x="320040" y="6382512"/>
            <a:ext cx="11521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• Snapshot árazás: az ár a rendeléskor rögzített érték, árváltozástól független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9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E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9"/>
          <p:cNvSpPr/>
          <p:nvPr/>
        </p:nvSpPr>
        <p:spPr>
          <a:xfrm>
            <a:off x="0" y="502920"/>
            <a:ext cx="6094476" cy="73152"/>
          </a:xfrm>
          <a:prstGeom prst="rect">
            <a:avLst/>
          </a:prstGeom>
          <a:solidFill>
            <a:srgbClr val="EC489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9"/>
          <p:cNvSpPr/>
          <p:nvPr/>
        </p:nvSpPr>
        <p:spPr>
          <a:xfrm>
            <a:off x="6094476" y="502920"/>
            <a:ext cx="6094476" cy="73152"/>
          </a:xfrm>
          <a:prstGeom prst="rect">
            <a:avLst/>
          </a:prstGeom>
          <a:solidFill>
            <a:srgbClr val="9333E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9"/>
          <p:cNvSpPr txBox="1"/>
          <p:nvPr/>
        </p:nvSpPr>
        <p:spPr>
          <a:xfrm>
            <a:off x="365760" y="640080"/>
            <a:ext cx="114300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06  Backend API</a:t>
            </a:r>
            <a:endParaRPr/>
          </a:p>
        </p:txBody>
      </p:sp>
      <p:sp>
        <p:nvSpPr>
          <p:cNvPr id="303" name="Google Shape;303;p19"/>
          <p:cNvSpPr txBox="1"/>
          <p:nvPr/>
        </p:nvSpPr>
        <p:spPr>
          <a:xfrm>
            <a:off x="365760" y="150876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Express.js REST API – JWT autentikáció, CORS, SQLite</a:t>
            </a:r>
            <a:endParaRPr/>
          </a:p>
        </p:txBody>
      </p:sp>
      <p:sp>
        <p:nvSpPr>
          <p:cNvPr id="304" name="Google Shape;304;p19"/>
          <p:cNvSpPr/>
          <p:nvPr/>
        </p:nvSpPr>
        <p:spPr>
          <a:xfrm>
            <a:off x="320040" y="2176272"/>
            <a:ext cx="11521440" cy="310896"/>
          </a:xfrm>
          <a:prstGeom prst="rect">
            <a:avLst/>
          </a:prstGeom>
          <a:solidFill>
            <a:srgbClr val="140C0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9"/>
          <p:cNvSpPr/>
          <p:nvPr/>
        </p:nvSpPr>
        <p:spPr>
          <a:xfrm>
            <a:off x="365760" y="2194560"/>
            <a:ext cx="777240" cy="274320"/>
          </a:xfrm>
          <a:prstGeom prst="ellipse">
            <a:avLst/>
          </a:prstGeom>
          <a:solidFill>
            <a:srgbClr val="228B22"/>
          </a:solidFill>
          <a:ln cap="flat" cmpd="sng" w="9525">
            <a:solidFill>
              <a:srgbClr val="228B2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GET</a:t>
            </a:r>
            <a:endParaRPr/>
          </a:p>
        </p:txBody>
      </p:sp>
      <p:sp>
        <p:nvSpPr>
          <p:cNvPr id="306" name="Google Shape;306;p19"/>
          <p:cNvSpPr txBox="1"/>
          <p:nvPr/>
        </p:nvSpPr>
        <p:spPr>
          <a:xfrm>
            <a:off x="1234440" y="2212848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/api/products</a:t>
            </a:r>
            <a:endParaRPr/>
          </a:p>
        </p:txBody>
      </p:sp>
      <p:sp>
        <p:nvSpPr>
          <p:cNvPr id="307" name="Google Shape;307;p19"/>
          <p:cNvSpPr txBox="1"/>
          <p:nvPr/>
        </p:nvSpPr>
        <p:spPr>
          <a:xfrm>
            <a:off x="4572000" y="221284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endParaRPr/>
          </a:p>
        </p:txBody>
      </p:sp>
      <p:sp>
        <p:nvSpPr>
          <p:cNvPr id="308" name="Google Shape;308;p19"/>
          <p:cNvSpPr txBox="1"/>
          <p:nvPr/>
        </p:nvSpPr>
        <p:spPr>
          <a:xfrm>
            <a:off x="5577840" y="2212848"/>
            <a:ext cx="6126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Összes termék listája</a:t>
            </a:r>
            <a:endParaRPr/>
          </a:p>
        </p:txBody>
      </p:sp>
      <p:sp>
        <p:nvSpPr>
          <p:cNvPr id="309" name="Google Shape;309;p19"/>
          <p:cNvSpPr/>
          <p:nvPr/>
        </p:nvSpPr>
        <p:spPr>
          <a:xfrm>
            <a:off x="320040" y="2505456"/>
            <a:ext cx="11521440" cy="310896"/>
          </a:xfrm>
          <a:prstGeom prst="rect">
            <a:avLst/>
          </a:prstGeom>
          <a:solidFill>
            <a:srgbClr val="1C100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9"/>
          <p:cNvSpPr/>
          <p:nvPr/>
        </p:nvSpPr>
        <p:spPr>
          <a:xfrm>
            <a:off x="365760" y="2523744"/>
            <a:ext cx="777240" cy="274320"/>
          </a:xfrm>
          <a:prstGeom prst="ellipse">
            <a:avLst/>
          </a:prstGeom>
          <a:solidFill>
            <a:srgbClr val="228B22"/>
          </a:solidFill>
          <a:ln cap="flat" cmpd="sng" w="9525">
            <a:solidFill>
              <a:srgbClr val="228B2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GET</a:t>
            </a:r>
            <a:endParaRPr/>
          </a:p>
        </p:txBody>
      </p:sp>
      <p:sp>
        <p:nvSpPr>
          <p:cNvPr id="311" name="Google Shape;311;p19"/>
          <p:cNvSpPr txBox="1"/>
          <p:nvPr/>
        </p:nvSpPr>
        <p:spPr>
          <a:xfrm>
            <a:off x="1234440" y="2542032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/api/products/:id</a:t>
            </a:r>
            <a:endParaRPr/>
          </a:p>
        </p:txBody>
      </p:sp>
      <p:sp>
        <p:nvSpPr>
          <p:cNvPr id="312" name="Google Shape;312;p19"/>
          <p:cNvSpPr txBox="1"/>
          <p:nvPr/>
        </p:nvSpPr>
        <p:spPr>
          <a:xfrm>
            <a:off x="4572000" y="254203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endParaRPr/>
          </a:p>
        </p:txBody>
      </p:sp>
      <p:sp>
        <p:nvSpPr>
          <p:cNvPr id="313" name="Google Shape;313;p19"/>
          <p:cNvSpPr txBox="1"/>
          <p:nvPr/>
        </p:nvSpPr>
        <p:spPr>
          <a:xfrm>
            <a:off x="5577840" y="2542032"/>
            <a:ext cx="6126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Egy termék részletei</a:t>
            </a:r>
            <a:endParaRPr/>
          </a:p>
        </p:txBody>
      </p:sp>
      <p:sp>
        <p:nvSpPr>
          <p:cNvPr id="314" name="Google Shape;314;p19"/>
          <p:cNvSpPr/>
          <p:nvPr/>
        </p:nvSpPr>
        <p:spPr>
          <a:xfrm>
            <a:off x="320040" y="2834639"/>
            <a:ext cx="11521440" cy="310896"/>
          </a:xfrm>
          <a:prstGeom prst="rect">
            <a:avLst/>
          </a:prstGeom>
          <a:solidFill>
            <a:srgbClr val="140C0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9"/>
          <p:cNvSpPr/>
          <p:nvPr/>
        </p:nvSpPr>
        <p:spPr>
          <a:xfrm>
            <a:off x="365760" y="2852927"/>
            <a:ext cx="777240" cy="274320"/>
          </a:xfrm>
          <a:prstGeom prst="ellipse">
            <a:avLst/>
          </a:prstGeom>
          <a:solidFill>
            <a:srgbClr val="3178C6"/>
          </a:solidFill>
          <a:ln cap="flat" cmpd="sng" w="9525">
            <a:solidFill>
              <a:srgbClr val="3178C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</a:t>
            </a:r>
            <a:endParaRPr/>
          </a:p>
        </p:txBody>
      </p:sp>
      <p:sp>
        <p:nvSpPr>
          <p:cNvPr id="316" name="Google Shape;316;p19"/>
          <p:cNvSpPr txBox="1"/>
          <p:nvPr/>
        </p:nvSpPr>
        <p:spPr>
          <a:xfrm>
            <a:off x="1234440" y="2871215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/api/products</a:t>
            </a:r>
            <a:endParaRPr/>
          </a:p>
        </p:txBody>
      </p:sp>
      <p:sp>
        <p:nvSpPr>
          <p:cNvPr id="317" name="Google Shape;317;p19"/>
          <p:cNvSpPr txBox="1"/>
          <p:nvPr/>
        </p:nvSpPr>
        <p:spPr>
          <a:xfrm>
            <a:off x="4572000" y="2871215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Admin</a:t>
            </a:r>
            <a:endParaRPr/>
          </a:p>
        </p:txBody>
      </p:sp>
      <p:sp>
        <p:nvSpPr>
          <p:cNvPr id="318" name="Google Shape;318;p19"/>
          <p:cNvSpPr txBox="1"/>
          <p:nvPr/>
        </p:nvSpPr>
        <p:spPr>
          <a:xfrm>
            <a:off x="5577840" y="2871215"/>
            <a:ext cx="6126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Új termék létrehozása</a:t>
            </a:r>
            <a:endParaRPr/>
          </a:p>
        </p:txBody>
      </p:sp>
      <p:sp>
        <p:nvSpPr>
          <p:cNvPr id="319" name="Google Shape;319;p19"/>
          <p:cNvSpPr/>
          <p:nvPr/>
        </p:nvSpPr>
        <p:spPr>
          <a:xfrm>
            <a:off x="320040" y="3163824"/>
            <a:ext cx="11521440" cy="310896"/>
          </a:xfrm>
          <a:prstGeom prst="rect">
            <a:avLst/>
          </a:prstGeom>
          <a:solidFill>
            <a:srgbClr val="1C100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9"/>
          <p:cNvSpPr/>
          <p:nvPr/>
        </p:nvSpPr>
        <p:spPr>
          <a:xfrm>
            <a:off x="365760" y="3182112"/>
            <a:ext cx="777240" cy="274320"/>
          </a:xfrm>
          <a:prstGeom prst="ellipse">
            <a:avLst/>
          </a:prstGeom>
          <a:solidFill>
            <a:srgbClr val="D97A06"/>
          </a:solidFill>
          <a:ln cap="flat" cmpd="sng" w="9525">
            <a:solidFill>
              <a:srgbClr val="D97A0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PUT</a:t>
            </a:r>
            <a:endParaRPr/>
          </a:p>
        </p:txBody>
      </p:sp>
      <p:sp>
        <p:nvSpPr>
          <p:cNvPr id="321" name="Google Shape;321;p19"/>
          <p:cNvSpPr txBox="1"/>
          <p:nvPr/>
        </p:nvSpPr>
        <p:spPr>
          <a:xfrm>
            <a:off x="1234440" y="32004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/api/products/:id</a:t>
            </a:r>
            <a:endParaRPr/>
          </a:p>
        </p:txBody>
      </p:sp>
      <p:sp>
        <p:nvSpPr>
          <p:cNvPr id="322" name="Google Shape;322;p19"/>
          <p:cNvSpPr txBox="1"/>
          <p:nvPr/>
        </p:nvSpPr>
        <p:spPr>
          <a:xfrm>
            <a:off x="4572000" y="32004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Admin</a:t>
            </a:r>
            <a:endParaRPr/>
          </a:p>
        </p:txBody>
      </p:sp>
      <p:sp>
        <p:nvSpPr>
          <p:cNvPr id="323" name="Google Shape;323;p19"/>
          <p:cNvSpPr txBox="1"/>
          <p:nvPr/>
        </p:nvSpPr>
        <p:spPr>
          <a:xfrm>
            <a:off x="5577840" y="3200400"/>
            <a:ext cx="6126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Termék módosítása</a:t>
            </a:r>
            <a:endParaRPr/>
          </a:p>
        </p:txBody>
      </p:sp>
      <p:sp>
        <p:nvSpPr>
          <p:cNvPr id="324" name="Google Shape;324;p19"/>
          <p:cNvSpPr/>
          <p:nvPr/>
        </p:nvSpPr>
        <p:spPr>
          <a:xfrm>
            <a:off x="320040" y="3493008"/>
            <a:ext cx="11521440" cy="310896"/>
          </a:xfrm>
          <a:prstGeom prst="rect">
            <a:avLst/>
          </a:prstGeom>
          <a:solidFill>
            <a:srgbClr val="140C0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9"/>
          <p:cNvSpPr/>
          <p:nvPr/>
        </p:nvSpPr>
        <p:spPr>
          <a:xfrm>
            <a:off x="365760" y="3511296"/>
            <a:ext cx="777240" cy="274320"/>
          </a:xfrm>
          <a:prstGeom prst="ellipse">
            <a:avLst/>
          </a:prstGeom>
          <a:solidFill>
            <a:srgbClr val="DC2626"/>
          </a:solidFill>
          <a:ln cap="flat" cmpd="sng" w="9525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DELETE</a:t>
            </a:r>
            <a:endParaRPr/>
          </a:p>
        </p:txBody>
      </p:sp>
      <p:sp>
        <p:nvSpPr>
          <p:cNvPr id="326" name="Google Shape;326;p19"/>
          <p:cNvSpPr txBox="1"/>
          <p:nvPr/>
        </p:nvSpPr>
        <p:spPr>
          <a:xfrm>
            <a:off x="1234440" y="3529584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/api/products/:id</a:t>
            </a:r>
            <a:endParaRPr/>
          </a:p>
        </p:txBody>
      </p:sp>
      <p:sp>
        <p:nvSpPr>
          <p:cNvPr id="327" name="Google Shape;327;p19"/>
          <p:cNvSpPr txBox="1"/>
          <p:nvPr/>
        </p:nvSpPr>
        <p:spPr>
          <a:xfrm>
            <a:off x="4572000" y="352958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Admin</a:t>
            </a:r>
            <a:endParaRPr/>
          </a:p>
        </p:txBody>
      </p:sp>
      <p:sp>
        <p:nvSpPr>
          <p:cNvPr id="328" name="Google Shape;328;p19"/>
          <p:cNvSpPr txBox="1"/>
          <p:nvPr/>
        </p:nvSpPr>
        <p:spPr>
          <a:xfrm>
            <a:off x="5577840" y="3529584"/>
            <a:ext cx="6126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Termék törlése</a:t>
            </a:r>
            <a:endParaRPr/>
          </a:p>
        </p:txBody>
      </p:sp>
      <p:sp>
        <p:nvSpPr>
          <p:cNvPr id="329" name="Google Shape;329;p19"/>
          <p:cNvSpPr/>
          <p:nvPr/>
        </p:nvSpPr>
        <p:spPr>
          <a:xfrm>
            <a:off x="320040" y="3822191"/>
            <a:ext cx="11521440" cy="310896"/>
          </a:xfrm>
          <a:prstGeom prst="rect">
            <a:avLst/>
          </a:prstGeom>
          <a:solidFill>
            <a:srgbClr val="1C100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9"/>
          <p:cNvSpPr/>
          <p:nvPr/>
        </p:nvSpPr>
        <p:spPr>
          <a:xfrm>
            <a:off x="365760" y="3840479"/>
            <a:ext cx="777240" cy="274320"/>
          </a:xfrm>
          <a:prstGeom prst="ellipse">
            <a:avLst/>
          </a:prstGeom>
          <a:solidFill>
            <a:srgbClr val="3178C6"/>
          </a:solidFill>
          <a:ln cap="flat" cmpd="sng" w="9525">
            <a:solidFill>
              <a:srgbClr val="3178C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</a:t>
            </a:r>
            <a:endParaRPr/>
          </a:p>
        </p:txBody>
      </p:sp>
      <p:sp>
        <p:nvSpPr>
          <p:cNvPr id="331" name="Google Shape;331;p19"/>
          <p:cNvSpPr txBox="1"/>
          <p:nvPr/>
        </p:nvSpPr>
        <p:spPr>
          <a:xfrm>
            <a:off x="1234440" y="3858768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/api/orders</a:t>
            </a:r>
            <a:endParaRPr/>
          </a:p>
        </p:txBody>
      </p:sp>
      <p:sp>
        <p:nvSpPr>
          <p:cNvPr id="332" name="Google Shape;332;p19"/>
          <p:cNvSpPr txBox="1"/>
          <p:nvPr/>
        </p:nvSpPr>
        <p:spPr>
          <a:xfrm>
            <a:off x="4572000" y="385876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endParaRPr/>
          </a:p>
        </p:txBody>
      </p:sp>
      <p:sp>
        <p:nvSpPr>
          <p:cNvPr id="333" name="Google Shape;333;p19"/>
          <p:cNvSpPr txBox="1"/>
          <p:nvPr/>
        </p:nvSpPr>
        <p:spPr>
          <a:xfrm>
            <a:off x="5577840" y="3858768"/>
            <a:ext cx="6126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Új rendelés (publikus)</a:t>
            </a:r>
            <a:endParaRPr/>
          </a:p>
        </p:txBody>
      </p:sp>
      <p:sp>
        <p:nvSpPr>
          <p:cNvPr id="334" name="Google Shape;334;p19"/>
          <p:cNvSpPr/>
          <p:nvPr/>
        </p:nvSpPr>
        <p:spPr>
          <a:xfrm>
            <a:off x="320040" y="4151376"/>
            <a:ext cx="11521440" cy="310896"/>
          </a:xfrm>
          <a:prstGeom prst="rect">
            <a:avLst/>
          </a:prstGeom>
          <a:solidFill>
            <a:srgbClr val="140C0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9"/>
          <p:cNvSpPr/>
          <p:nvPr/>
        </p:nvSpPr>
        <p:spPr>
          <a:xfrm>
            <a:off x="365760" y="4169663"/>
            <a:ext cx="777240" cy="274320"/>
          </a:xfrm>
          <a:prstGeom prst="ellipse">
            <a:avLst/>
          </a:prstGeom>
          <a:solidFill>
            <a:srgbClr val="228B22"/>
          </a:solidFill>
          <a:ln cap="flat" cmpd="sng" w="9525">
            <a:solidFill>
              <a:srgbClr val="228B2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GET</a:t>
            </a:r>
            <a:endParaRPr/>
          </a:p>
        </p:txBody>
      </p:sp>
      <p:sp>
        <p:nvSpPr>
          <p:cNvPr id="336" name="Google Shape;336;p19"/>
          <p:cNvSpPr txBox="1"/>
          <p:nvPr/>
        </p:nvSpPr>
        <p:spPr>
          <a:xfrm>
            <a:off x="1234440" y="4187952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/api/orders</a:t>
            </a:r>
            <a:endParaRPr/>
          </a:p>
        </p:txBody>
      </p:sp>
      <p:sp>
        <p:nvSpPr>
          <p:cNvPr id="337" name="Google Shape;337;p19"/>
          <p:cNvSpPr txBox="1"/>
          <p:nvPr/>
        </p:nvSpPr>
        <p:spPr>
          <a:xfrm>
            <a:off x="4572000" y="418795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Admin</a:t>
            </a:r>
            <a:endParaRPr/>
          </a:p>
        </p:txBody>
      </p:sp>
      <p:sp>
        <p:nvSpPr>
          <p:cNvPr id="338" name="Google Shape;338;p19"/>
          <p:cNvSpPr txBox="1"/>
          <p:nvPr/>
        </p:nvSpPr>
        <p:spPr>
          <a:xfrm>
            <a:off x="5577840" y="4187952"/>
            <a:ext cx="6126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Rendelések listája</a:t>
            </a:r>
            <a:endParaRPr/>
          </a:p>
        </p:txBody>
      </p:sp>
      <p:sp>
        <p:nvSpPr>
          <p:cNvPr id="339" name="Google Shape;339;p19"/>
          <p:cNvSpPr/>
          <p:nvPr/>
        </p:nvSpPr>
        <p:spPr>
          <a:xfrm>
            <a:off x="320040" y="4480560"/>
            <a:ext cx="11521440" cy="310896"/>
          </a:xfrm>
          <a:prstGeom prst="rect">
            <a:avLst/>
          </a:prstGeom>
          <a:solidFill>
            <a:srgbClr val="1C100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9"/>
          <p:cNvSpPr/>
          <p:nvPr/>
        </p:nvSpPr>
        <p:spPr>
          <a:xfrm>
            <a:off x="365760" y="4498848"/>
            <a:ext cx="777240" cy="274320"/>
          </a:xfrm>
          <a:prstGeom prst="ellipse">
            <a:avLst/>
          </a:prstGeom>
          <a:solidFill>
            <a:srgbClr val="228B22"/>
          </a:solidFill>
          <a:ln cap="flat" cmpd="sng" w="9525">
            <a:solidFill>
              <a:srgbClr val="228B2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GET</a:t>
            </a:r>
            <a:endParaRPr/>
          </a:p>
        </p:txBody>
      </p:sp>
      <p:sp>
        <p:nvSpPr>
          <p:cNvPr id="341" name="Google Shape;341;p19"/>
          <p:cNvSpPr txBox="1"/>
          <p:nvPr/>
        </p:nvSpPr>
        <p:spPr>
          <a:xfrm>
            <a:off x="1234440" y="4517136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/api/orders/:id</a:t>
            </a:r>
            <a:endParaRPr/>
          </a:p>
        </p:txBody>
      </p:sp>
      <p:sp>
        <p:nvSpPr>
          <p:cNvPr id="342" name="Google Shape;342;p19"/>
          <p:cNvSpPr txBox="1"/>
          <p:nvPr/>
        </p:nvSpPr>
        <p:spPr>
          <a:xfrm>
            <a:off x="4572000" y="4517136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Admin</a:t>
            </a:r>
            <a:endParaRPr/>
          </a:p>
        </p:txBody>
      </p:sp>
      <p:sp>
        <p:nvSpPr>
          <p:cNvPr id="343" name="Google Shape;343;p19"/>
          <p:cNvSpPr txBox="1"/>
          <p:nvPr/>
        </p:nvSpPr>
        <p:spPr>
          <a:xfrm>
            <a:off x="5577840" y="4517136"/>
            <a:ext cx="6126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Rendelés részletei</a:t>
            </a:r>
            <a:endParaRPr/>
          </a:p>
        </p:txBody>
      </p:sp>
      <p:sp>
        <p:nvSpPr>
          <p:cNvPr id="344" name="Google Shape;344;p19"/>
          <p:cNvSpPr/>
          <p:nvPr/>
        </p:nvSpPr>
        <p:spPr>
          <a:xfrm>
            <a:off x="320040" y="4809744"/>
            <a:ext cx="11521440" cy="310896"/>
          </a:xfrm>
          <a:prstGeom prst="rect">
            <a:avLst/>
          </a:prstGeom>
          <a:solidFill>
            <a:srgbClr val="140C0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9"/>
          <p:cNvSpPr/>
          <p:nvPr/>
        </p:nvSpPr>
        <p:spPr>
          <a:xfrm>
            <a:off x="365760" y="4828031"/>
            <a:ext cx="777240" cy="274320"/>
          </a:xfrm>
          <a:prstGeom prst="ellipse">
            <a:avLst/>
          </a:prstGeom>
          <a:solidFill>
            <a:srgbClr val="7B4418"/>
          </a:solidFill>
          <a:ln cap="flat" cmpd="sng" w="9525">
            <a:solidFill>
              <a:srgbClr val="7B441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PATCH</a:t>
            </a:r>
            <a:endParaRPr/>
          </a:p>
        </p:txBody>
      </p:sp>
      <p:sp>
        <p:nvSpPr>
          <p:cNvPr id="346" name="Google Shape;346;p19"/>
          <p:cNvSpPr txBox="1"/>
          <p:nvPr/>
        </p:nvSpPr>
        <p:spPr>
          <a:xfrm>
            <a:off x="1234440" y="484632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/api/orders/:id/ship</a:t>
            </a:r>
            <a:endParaRPr/>
          </a:p>
        </p:txBody>
      </p:sp>
      <p:sp>
        <p:nvSpPr>
          <p:cNvPr id="347" name="Google Shape;347;p19"/>
          <p:cNvSpPr txBox="1"/>
          <p:nvPr/>
        </p:nvSpPr>
        <p:spPr>
          <a:xfrm>
            <a:off x="4572000" y="48463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Admin</a:t>
            </a:r>
            <a:endParaRPr/>
          </a:p>
        </p:txBody>
      </p:sp>
      <p:sp>
        <p:nvSpPr>
          <p:cNvPr id="348" name="Google Shape;348;p19"/>
          <p:cNvSpPr txBox="1"/>
          <p:nvPr/>
        </p:nvSpPr>
        <p:spPr>
          <a:xfrm>
            <a:off x="5577840" y="4846320"/>
            <a:ext cx="6126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Postázás státusz</a:t>
            </a:r>
            <a:endParaRPr/>
          </a:p>
        </p:txBody>
      </p:sp>
      <p:sp>
        <p:nvSpPr>
          <p:cNvPr id="349" name="Google Shape;349;p19"/>
          <p:cNvSpPr/>
          <p:nvPr/>
        </p:nvSpPr>
        <p:spPr>
          <a:xfrm>
            <a:off x="320040" y="5138927"/>
            <a:ext cx="11521440" cy="310896"/>
          </a:xfrm>
          <a:prstGeom prst="rect">
            <a:avLst/>
          </a:prstGeom>
          <a:solidFill>
            <a:srgbClr val="1C100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9"/>
          <p:cNvSpPr/>
          <p:nvPr/>
        </p:nvSpPr>
        <p:spPr>
          <a:xfrm>
            <a:off x="365760" y="5157215"/>
            <a:ext cx="777240" cy="274320"/>
          </a:xfrm>
          <a:prstGeom prst="ellipse">
            <a:avLst/>
          </a:prstGeom>
          <a:solidFill>
            <a:srgbClr val="DC2626"/>
          </a:solidFill>
          <a:ln cap="flat" cmpd="sng" w="9525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DELETE</a:t>
            </a:r>
            <a:endParaRPr/>
          </a:p>
        </p:txBody>
      </p:sp>
      <p:sp>
        <p:nvSpPr>
          <p:cNvPr id="351" name="Google Shape;351;p19"/>
          <p:cNvSpPr txBox="1"/>
          <p:nvPr/>
        </p:nvSpPr>
        <p:spPr>
          <a:xfrm>
            <a:off x="1234440" y="5175503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/api/orders/:id</a:t>
            </a:r>
            <a:endParaRPr/>
          </a:p>
        </p:txBody>
      </p:sp>
      <p:sp>
        <p:nvSpPr>
          <p:cNvPr id="352" name="Google Shape;352;p19"/>
          <p:cNvSpPr txBox="1"/>
          <p:nvPr/>
        </p:nvSpPr>
        <p:spPr>
          <a:xfrm>
            <a:off x="4572000" y="5175503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Admin</a:t>
            </a:r>
            <a:endParaRPr/>
          </a:p>
        </p:txBody>
      </p:sp>
      <p:sp>
        <p:nvSpPr>
          <p:cNvPr id="353" name="Google Shape;353;p19"/>
          <p:cNvSpPr txBox="1"/>
          <p:nvPr/>
        </p:nvSpPr>
        <p:spPr>
          <a:xfrm>
            <a:off x="5577840" y="5175503"/>
            <a:ext cx="6126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Rendelés törlése</a:t>
            </a:r>
            <a:endParaRPr/>
          </a:p>
        </p:txBody>
      </p:sp>
      <p:sp>
        <p:nvSpPr>
          <p:cNvPr id="354" name="Google Shape;354;p19"/>
          <p:cNvSpPr/>
          <p:nvPr/>
        </p:nvSpPr>
        <p:spPr>
          <a:xfrm>
            <a:off x="320040" y="5468112"/>
            <a:ext cx="11521440" cy="310896"/>
          </a:xfrm>
          <a:prstGeom prst="rect">
            <a:avLst/>
          </a:prstGeom>
          <a:solidFill>
            <a:srgbClr val="140C0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9"/>
          <p:cNvSpPr/>
          <p:nvPr/>
        </p:nvSpPr>
        <p:spPr>
          <a:xfrm>
            <a:off x="365760" y="5486399"/>
            <a:ext cx="777240" cy="274320"/>
          </a:xfrm>
          <a:prstGeom prst="ellipse">
            <a:avLst/>
          </a:prstGeom>
          <a:solidFill>
            <a:srgbClr val="3178C6"/>
          </a:solidFill>
          <a:ln cap="flat" cmpd="sng" w="9525">
            <a:solidFill>
              <a:srgbClr val="3178C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</a:t>
            </a:r>
            <a:endParaRPr/>
          </a:p>
        </p:txBody>
      </p:sp>
      <p:sp>
        <p:nvSpPr>
          <p:cNvPr id="356" name="Google Shape;356;p19"/>
          <p:cNvSpPr txBox="1"/>
          <p:nvPr/>
        </p:nvSpPr>
        <p:spPr>
          <a:xfrm>
            <a:off x="1234440" y="5504688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/api/admin/login</a:t>
            </a:r>
            <a:endParaRPr/>
          </a:p>
        </p:txBody>
      </p:sp>
      <p:sp>
        <p:nvSpPr>
          <p:cNvPr id="357" name="Google Shape;357;p19"/>
          <p:cNvSpPr txBox="1"/>
          <p:nvPr/>
        </p:nvSpPr>
        <p:spPr>
          <a:xfrm>
            <a:off x="4572000" y="550468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endParaRPr/>
          </a:p>
        </p:txBody>
      </p:sp>
      <p:sp>
        <p:nvSpPr>
          <p:cNvPr id="358" name="Google Shape;358;p19"/>
          <p:cNvSpPr txBox="1"/>
          <p:nvPr/>
        </p:nvSpPr>
        <p:spPr>
          <a:xfrm>
            <a:off x="5577840" y="5504688"/>
            <a:ext cx="6126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Bejelentkezés → JWT</a:t>
            </a:r>
            <a:endParaRPr/>
          </a:p>
        </p:txBody>
      </p:sp>
      <p:sp>
        <p:nvSpPr>
          <p:cNvPr id="359" name="Google Shape;359;p19"/>
          <p:cNvSpPr/>
          <p:nvPr/>
        </p:nvSpPr>
        <p:spPr>
          <a:xfrm>
            <a:off x="320040" y="5797296"/>
            <a:ext cx="11521440" cy="310896"/>
          </a:xfrm>
          <a:prstGeom prst="rect">
            <a:avLst/>
          </a:prstGeom>
          <a:solidFill>
            <a:srgbClr val="1C100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9"/>
          <p:cNvSpPr/>
          <p:nvPr/>
        </p:nvSpPr>
        <p:spPr>
          <a:xfrm>
            <a:off x="365760" y="5815583"/>
            <a:ext cx="777240" cy="274320"/>
          </a:xfrm>
          <a:prstGeom prst="ellipse">
            <a:avLst/>
          </a:prstGeom>
          <a:solidFill>
            <a:srgbClr val="3178C6"/>
          </a:solidFill>
          <a:ln cap="flat" cmpd="sng" w="9525">
            <a:solidFill>
              <a:srgbClr val="3178C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</a:t>
            </a:r>
            <a:endParaRPr/>
          </a:p>
        </p:txBody>
      </p:sp>
      <p:sp>
        <p:nvSpPr>
          <p:cNvPr id="361" name="Google Shape;361;p19"/>
          <p:cNvSpPr txBox="1"/>
          <p:nvPr/>
        </p:nvSpPr>
        <p:spPr>
          <a:xfrm>
            <a:off x="1234440" y="5833872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/api/admin/logout</a:t>
            </a:r>
            <a:endParaRPr/>
          </a:p>
        </p:txBody>
      </p:sp>
      <p:sp>
        <p:nvSpPr>
          <p:cNvPr id="362" name="Google Shape;362;p19"/>
          <p:cNvSpPr txBox="1"/>
          <p:nvPr/>
        </p:nvSpPr>
        <p:spPr>
          <a:xfrm>
            <a:off x="4572000" y="583387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endParaRPr/>
          </a:p>
        </p:txBody>
      </p:sp>
      <p:sp>
        <p:nvSpPr>
          <p:cNvPr id="363" name="Google Shape;363;p19"/>
          <p:cNvSpPr txBox="1"/>
          <p:nvPr/>
        </p:nvSpPr>
        <p:spPr>
          <a:xfrm>
            <a:off x="5577840" y="5833872"/>
            <a:ext cx="6126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Kijelentkezés</a:t>
            </a:r>
            <a:endParaRPr/>
          </a:p>
        </p:txBody>
      </p:sp>
      <p:sp>
        <p:nvSpPr>
          <p:cNvPr id="364" name="Google Shape;364;p19"/>
          <p:cNvSpPr/>
          <p:nvPr/>
        </p:nvSpPr>
        <p:spPr>
          <a:xfrm>
            <a:off x="320040" y="6126480"/>
            <a:ext cx="11521440" cy="310896"/>
          </a:xfrm>
          <a:prstGeom prst="rect">
            <a:avLst/>
          </a:prstGeom>
          <a:solidFill>
            <a:srgbClr val="140C0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9"/>
          <p:cNvSpPr/>
          <p:nvPr/>
        </p:nvSpPr>
        <p:spPr>
          <a:xfrm>
            <a:off x="365760" y="6144768"/>
            <a:ext cx="777240" cy="274320"/>
          </a:xfrm>
          <a:prstGeom prst="ellipse">
            <a:avLst/>
          </a:prstGeom>
          <a:solidFill>
            <a:srgbClr val="228B22"/>
          </a:solidFill>
          <a:ln cap="flat" cmpd="sng" w="9525">
            <a:solidFill>
              <a:srgbClr val="228B2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GET</a:t>
            </a:r>
            <a:endParaRPr/>
          </a:p>
        </p:txBody>
      </p:sp>
      <p:sp>
        <p:nvSpPr>
          <p:cNvPr id="366" name="Google Shape;366;p19"/>
          <p:cNvSpPr txBox="1"/>
          <p:nvPr/>
        </p:nvSpPr>
        <p:spPr>
          <a:xfrm>
            <a:off x="1234440" y="6163056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/api/admin/verify</a:t>
            </a:r>
            <a:endParaRPr/>
          </a:p>
        </p:txBody>
      </p:sp>
      <p:sp>
        <p:nvSpPr>
          <p:cNvPr id="367" name="Google Shape;367;p19"/>
          <p:cNvSpPr txBox="1"/>
          <p:nvPr/>
        </p:nvSpPr>
        <p:spPr>
          <a:xfrm>
            <a:off x="4572000" y="6163056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endParaRPr/>
          </a:p>
        </p:txBody>
      </p:sp>
      <p:sp>
        <p:nvSpPr>
          <p:cNvPr id="368" name="Google Shape;368;p19"/>
          <p:cNvSpPr txBox="1"/>
          <p:nvPr/>
        </p:nvSpPr>
        <p:spPr>
          <a:xfrm>
            <a:off x="5577840" y="6163056"/>
            <a:ext cx="6126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Token ellenőrzés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E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0"/>
          <p:cNvSpPr/>
          <p:nvPr/>
        </p:nvSpPr>
        <p:spPr>
          <a:xfrm>
            <a:off x="0" y="502920"/>
            <a:ext cx="6094476" cy="73152"/>
          </a:xfrm>
          <a:prstGeom prst="rect">
            <a:avLst/>
          </a:prstGeom>
          <a:solidFill>
            <a:srgbClr val="EC489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0"/>
          <p:cNvSpPr/>
          <p:nvPr/>
        </p:nvSpPr>
        <p:spPr>
          <a:xfrm>
            <a:off x="6094476" y="502920"/>
            <a:ext cx="6094476" cy="73152"/>
          </a:xfrm>
          <a:prstGeom prst="rect">
            <a:avLst/>
          </a:prstGeom>
          <a:solidFill>
            <a:srgbClr val="9333E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0"/>
          <p:cNvSpPr txBox="1"/>
          <p:nvPr/>
        </p:nvSpPr>
        <p:spPr>
          <a:xfrm>
            <a:off x="365760" y="640080"/>
            <a:ext cx="114300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07  Frontend komponensek</a:t>
            </a:r>
            <a:endParaRPr/>
          </a:p>
        </p:txBody>
      </p:sp>
      <p:sp>
        <p:nvSpPr>
          <p:cNvPr id="377" name="Google Shape;377;p20"/>
          <p:cNvSpPr txBox="1"/>
          <p:nvPr/>
        </p:nvSpPr>
        <p:spPr>
          <a:xfrm>
            <a:off x="365760" y="150876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SvelteKit útvonalak és komponens hierarchia</a:t>
            </a:r>
            <a:endParaRPr/>
          </a:p>
        </p:txBody>
      </p:sp>
      <p:sp>
        <p:nvSpPr>
          <p:cNvPr id="378" name="Google Shape;378;p20"/>
          <p:cNvSpPr txBox="1"/>
          <p:nvPr/>
        </p:nvSpPr>
        <p:spPr>
          <a:xfrm>
            <a:off x="1686670" y="2252472"/>
            <a:ext cx="658368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📁  src/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  📁  routes/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    📄  +layout.svelte       ← Gyökér layout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    📄  +page.svelte         ← Főoldal (termékek, kosár)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    📁  checkout/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      📄  +page.svelte      ← Rendelési űrlap</a:t>
            </a:r>
            <a:endParaRPr b="0" i="0" sz="1100" u="none" cap="none" strike="noStrike">
              <a:solidFill>
                <a:srgbClr val="E5E7E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    📁  admin/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      📄  +page.svelte      ← Admin panel (JWT védett)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  📁  lib/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    📄  api.ts               ← HTTP kliens (token kezelés)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    📄  cart.ts              ← Kosár store + addToCart()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    📄  orders.ts            ← Rendelések store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    📄  products.ts          ← 6 termék statikus katalógus</a:t>
            </a:r>
            <a:endParaRPr b="0" i="0" sz="1100" u="none" cap="none" strike="noStrike">
              <a:solidFill>
                <a:srgbClr val="E5E7E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    📄  theme.ts             ← isDarkMode store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    📄  types.ts             ← TypeScript interfészek</a:t>
            </a:r>
            <a:endParaRPr b="0" i="0" sz="1100" u="none" cap="none" strike="noStrike">
              <a:solidFill>
                <a:srgbClr val="E5E7E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    📄  utils.ts             ← Validációs függvények</a:t>
            </a:r>
            <a:endParaRPr b="0" i="0" sz="1100" u="none" cap="none" strike="noStrike">
              <a:solidFill>
                <a:srgbClr val="E5E7E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    📁  components/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      📄  ProductCard.svelte      ← Termék kártya</a:t>
            </a:r>
            <a:endParaRPr b="0" i="0" sz="1100" u="none" cap="none" strike="noStrike">
              <a:solidFill>
                <a:srgbClr val="E5E7E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      📄  ThemeDecorations.svelte ← Deko (csillagok/felhők)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      📁  ui/  (shadcn-svelte)    ← 30+ UI komponens</a:t>
            </a:r>
            <a:endParaRPr b="0" i="0" sz="1100" u="none" cap="none" strike="noStrike">
              <a:solidFill>
                <a:srgbClr val="E5E7E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0"/>
          <p:cNvSpPr/>
          <p:nvPr/>
        </p:nvSpPr>
        <p:spPr>
          <a:xfrm>
            <a:off x="7132320" y="2194560"/>
            <a:ext cx="4754880" cy="960120"/>
          </a:xfrm>
          <a:prstGeom prst="ellipse">
            <a:avLst/>
          </a:prstGeom>
          <a:solidFill>
            <a:srgbClr val="180E05"/>
          </a:solidFill>
          <a:ln cap="flat" cmpd="sng" w="9525">
            <a:solidFill>
              <a:srgbClr val="7B441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0"/>
          <p:cNvSpPr txBox="1"/>
          <p:nvPr/>
        </p:nvSpPr>
        <p:spPr>
          <a:xfrm>
            <a:off x="8757622" y="2249424"/>
            <a:ext cx="4480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C48B4A"/>
                </a:solidFill>
                <a:latin typeface="Calibri"/>
                <a:ea typeface="Calibri"/>
                <a:cs typeface="Calibri"/>
                <a:sym typeface="Calibri"/>
              </a:rPr>
              <a:t>ProductCard.svelte</a:t>
            </a:r>
            <a:endParaRPr b="1" i="0" sz="1300" u="none" cap="none" strike="noStrike">
              <a:solidFill>
                <a:srgbClr val="C48B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0"/>
          <p:cNvSpPr txBox="1"/>
          <p:nvPr/>
        </p:nvSpPr>
        <p:spPr>
          <a:xfrm>
            <a:off x="8372138" y="2647188"/>
            <a:ext cx="4480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Tej/cukor dropdown, mennyiség</a:t>
            </a:r>
            <a:b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+/– gombok, kosárba gomb</a:t>
            </a:r>
            <a:endParaRPr/>
          </a:p>
        </p:txBody>
      </p:sp>
      <p:sp>
        <p:nvSpPr>
          <p:cNvPr id="382" name="Google Shape;382;p20"/>
          <p:cNvSpPr/>
          <p:nvPr/>
        </p:nvSpPr>
        <p:spPr>
          <a:xfrm>
            <a:off x="7132320" y="3310128"/>
            <a:ext cx="4754880" cy="960120"/>
          </a:xfrm>
          <a:prstGeom prst="ellipse">
            <a:avLst/>
          </a:prstGeom>
          <a:solidFill>
            <a:srgbClr val="180E05"/>
          </a:solidFill>
          <a:ln cap="flat" cmpd="sng" w="9525">
            <a:solidFill>
              <a:srgbClr val="7B441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0"/>
          <p:cNvSpPr txBox="1"/>
          <p:nvPr/>
        </p:nvSpPr>
        <p:spPr>
          <a:xfrm>
            <a:off x="8524539" y="3377542"/>
            <a:ext cx="4480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C48B4A"/>
                </a:solidFill>
                <a:latin typeface="Calibri"/>
                <a:ea typeface="Calibri"/>
                <a:cs typeface="Calibri"/>
                <a:sym typeface="Calibri"/>
              </a:rPr>
              <a:t>ThemeDecorations.svelte</a:t>
            </a:r>
            <a:endParaRPr b="1" i="0" sz="1300" u="none" cap="none" strike="noStrike">
              <a:solidFill>
                <a:srgbClr val="C48B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0"/>
          <p:cNvSpPr txBox="1"/>
          <p:nvPr/>
        </p:nvSpPr>
        <p:spPr>
          <a:xfrm>
            <a:off x="8524539" y="3755852"/>
            <a:ext cx="4480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Generált csillagok (dark) és</a:t>
            </a:r>
            <a:b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felhők (light) animációval</a:t>
            </a:r>
            <a:endParaRPr b="0" i="0" sz="1100" u="none" cap="none" strike="noStrike">
              <a:solidFill>
                <a:srgbClr val="E5E7E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0"/>
          <p:cNvSpPr/>
          <p:nvPr/>
        </p:nvSpPr>
        <p:spPr>
          <a:xfrm>
            <a:off x="7132320" y="4425696"/>
            <a:ext cx="4754880" cy="960120"/>
          </a:xfrm>
          <a:prstGeom prst="ellipse">
            <a:avLst/>
          </a:prstGeom>
          <a:solidFill>
            <a:srgbClr val="180E05"/>
          </a:solidFill>
          <a:ln cap="flat" cmpd="sng" w="9525">
            <a:solidFill>
              <a:srgbClr val="7B441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0"/>
          <p:cNvSpPr txBox="1"/>
          <p:nvPr/>
        </p:nvSpPr>
        <p:spPr>
          <a:xfrm>
            <a:off x="8720866" y="4517136"/>
            <a:ext cx="4480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C48B4A"/>
                </a:solidFill>
                <a:latin typeface="Calibri"/>
                <a:ea typeface="Calibri"/>
                <a:cs typeface="Calibri"/>
                <a:sym typeface="Calibri"/>
              </a:rPr>
              <a:t>+page.svelte (főoldal)</a:t>
            </a:r>
            <a:endParaRPr/>
          </a:p>
        </p:txBody>
      </p:sp>
      <p:sp>
        <p:nvSpPr>
          <p:cNvPr id="387" name="Google Shape;387;p20"/>
          <p:cNvSpPr txBox="1"/>
          <p:nvPr/>
        </p:nvSpPr>
        <p:spPr>
          <a:xfrm>
            <a:off x="8666180" y="4832604"/>
            <a:ext cx="4480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6x ProductCard grid,</a:t>
            </a:r>
            <a:b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Checkout bar végösszeggel</a:t>
            </a:r>
            <a:endParaRPr b="0" i="0" sz="1100" u="none" cap="none" strike="noStrike">
              <a:solidFill>
                <a:srgbClr val="E5E7E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0"/>
          <p:cNvSpPr/>
          <p:nvPr/>
        </p:nvSpPr>
        <p:spPr>
          <a:xfrm>
            <a:off x="7132320" y="5541264"/>
            <a:ext cx="4754880" cy="960120"/>
          </a:xfrm>
          <a:prstGeom prst="ellipse">
            <a:avLst/>
          </a:prstGeom>
          <a:solidFill>
            <a:srgbClr val="180E05"/>
          </a:solidFill>
          <a:ln cap="flat" cmpd="sng" w="9525">
            <a:solidFill>
              <a:srgbClr val="7B441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0"/>
          <p:cNvSpPr txBox="1"/>
          <p:nvPr/>
        </p:nvSpPr>
        <p:spPr>
          <a:xfrm>
            <a:off x="8720866" y="5643282"/>
            <a:ext cx="4480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C48B4A"/>
                </a:solidFill>
                <a:latin typeface="Calibri"/>
                <a:ea typeface="Calibri"/>
                <a:cs typeface="Calibri"/>
                <a:sym typeface="Calibri"/>
              </a:rPr>
              <a:t>+page.svelte (admin)</a:t>
            </a:r>
            <a:endParaRPr/>
          </a:p>
        </p:txBody>
      </p:sp>
      <p:sp>
        <p:nvSpPr>
          <p:cNvPr id="390" name="Google Shape;390;p20"/>
          <p:cNvSpPr txBox="1"/>
          <p:nvPr/>
        </p:nvSpPr>
        <p:spPr>
          <a:xfrm>
            <a:off x="8666180" y="6000436"/>
            <a:ext cx="4480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Bejelentkezés, rendelés táblázat,</a:t>
            </a:r>
            <a:b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Dialog modal, Badge státusz</a:t>
            </a:r>
            <a:endParaRPr b="0" i="0" sz="1100" u="none" cap="none" strike="noStrike">
              <a:solidFill>
                <a:srgbClr val="E5E7E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E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1"/>
          <p:cNvSpPr/>
          <p:nvPr/>
        </p:nvSpPr>
        <p:spPr>
          <a:xfrm>
            <a:off x="0" y="502920"/>
            <a:ext cx="6094476" cy="73152"/>
          </a:xfrm>
          <a:prstGeom prst="rect">
            <a:avLst/>
          </a:prstGeom>
          <a:solidFill>
            <a:srgbClr val="EC489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1"/>
          <p:cNvSpPr/>
          <p:nvPr/>
        </p:nvSpPr>
        <p:spPr>
          <a:xfrm>
            <a:off x="6094476" y="502920"/>
            <a:ext cx="6094476" cy="73152"/>
          </a:xfrm>
          <a:prstGeom prst="rect">
            <a:avLst/>
          </a:prstGeom>
          <a:solidFill>
            <a:srgbClr val="9333E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1"/>
          <p:cNvSpPr txBox="1"/>
          <p:nvPr/>
        </p:nvSpPr>
        <p:spPr>
          <a:xfrm>
            <a:off x="365760" y="640080"/>
            <a:ext cx="114300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08  Állapotkezelés</a:t>
            </a:r>
            <a:endParaRPr/>
          </a:p>
        </p:txBody>
      </p:sp>
      <p:sp>
        <p:nvSpPr>
          <p:cNvPr id="399" name="Google Shape;399;p21"/>
          <p:cNvSpPr txBox="1"/>
          <p:nvPr/>
        </p:nvSpPr>
        <p:spPr>
          <a:xfrm>
            <a:off x="365760" y="150876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Svelte stores – reaktív, minimális overhead</a:t>
            </a:r>
            <a:endParaRPr/>
          </a:p>
        </p:txBody>
      </p:sp>
      <p:sp>
        <p:nvSpPr>
          <p:cNvPr id="400" name="Google Shape;400;p21"/>
          <p:cNvSpPr/>
          <p:nvPr/>
        </p:nvSpPr>
        <p:spPr>
          <a:xfrm>
            <a:off x="320040" y="2148840"/>
            <a:ext cx="3566160" cy="658368"/>
          </a:xfrm>
          <a:prstGeom prst="ellipse">
            <a:avLst/>
          </a:prstGeom>
          <a:solidFill>
            <a:srgbClr val="7B441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1"/>
          <p:cNvSpPr txBox="1"/>
          <p:nvPr/>
        </p:nvSpPr>
        <p:spPr>
          <a:xfrm>
            <a:off x="411479" y="2281422"/>
            <a:ext cx="338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cartItems</a:t>
            </a:r>
            <a:endParaRPr/>
          </a:p>
        </p:txBody>
      </p:sp>
      <p:sp>
        <p:nvSpPr>
          <p:cNvPr id="402" name="Google Shape;402;p21"/>
          <p:cNvSpPr txBox="1"/>
          <p:nvPr/>
        </p:nvSpPr>
        <p:spPr>
          <a:xfrm>
            <a:off x="502920" y="2944368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▸  Kosár tartalmának tárolása</a:t>
            </a:r>
            <a:endParaRPr/>
          </a:p>
        </p:txBody>
      </p:sp>
      <p:sp>
        <p:nvSpPr>
          <p:cNvPr id="403" name="Google Shape;403;p21"/>
          <p:cNvSpPr txBox="1"/>
          <p:nvPr/>
        </p:nvSpPr>
        <p:spPr>
          <a:xfrm>
            <a:off x="502920" y="3538728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▸  Inicializálás: üres tömb []</a:t>
            </a:r>
            <a:endParaRPr/>
          </a:p>
        </p:txBody>
      </p:sp>
      <p:sp>
        <p:nvSpPr>
          <p:cNvPr id="404" name="Google Shape;404;p21"/>
          <p:cNvSpPr txBox="1"/>
          <p:nvPr/>
        </p:nvSpPr>
        <p:spPr>
          <a:xfrm>
            <a:off x="502920" y="4133088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▸  Módosítás: update() metódus</a:t>
            </a:r>
            <a:endParaRPr/>
          </a:p>
        </p:txBody>
      </p:sp>
      <p:sp>
        <p:nvSpPr>
          <p:cNvPr id="405" name="Google Shape;405;p21"/>
          <p:cNvSpPr txBox="1"/>
          <p:nvPr/>
        </p:nvSpPr>
        <p:spPr>
          <a:xfrm>
            <a:off x="502920" y="4727448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▸  Perzisztencia: nincs (session-only)</a:t>
            </a:r>
            <a:endParaRPr/>
          </a:p>
        </p:txBody>
      </p:sp>
      <p:sp>
        <p:nvSpPr>
          <p:cNvPr id="406" name="Google Shape;406;p21"/>
          <p:cNvSpPr txBox="1"/>
          <p:nvPr/>
        </p:nvSpPr>
        <p:spPr>
          <a:xfrm>
            <a:off x="502920" y="5321808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▸  Export: addToCart() függvény</a:t>
            </a:r>
            <a:endParaRPr/>
          </a:p>
        </p:txBody>
      </p:sp>
      <p:sp>
        <p:nvSpPr>
          <p:cNvPr id="407" name="Google Shape;407;p21"/>
          <p:cNvSpPr/>
          <p:nvPr/>
        </p:nvSpPr>
        <p:spPr>
          <a:xfrm>
            <a:off x="4206240" y="2148840"/>
            <a:ext cx="3566160" cy="658368"/>
          </a:xfrm>
          <a:prstGeom prst="ellipse">
            <a:avLst/>
          </a:prstGeom>
          <a:solidFill>
            <a:srgbClr val="066B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1"/>
          <p:cNvSpPr txBox="1"/>
          <p:nvPr/>
        </p:nvSpPr>
        <p:spPr>
          <a:xfrm>
            <a:off x="4297691" y="2281422"/>
            <a:ext cx="338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cartTotal</a:t>
            </a:r>
            <a:endParaRPr/>
          </a:p>
        </p:txBody>
      </p:sp>
      <p:sp>
        <p:nvSpPr>
          <p:cNvPr id="409" name="Google Shape;409;p21"/>
          <p:cNvSpPr txBox="1"/>
          <p:nvPr/>
        </p:nvSpPr>
        <p:spPr>
          <a:xfrm>
            <a:off x="4389120" y="2944368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▸  Kosár végösszeg automatikus számítás</a:t>
            </a:r>
            <a:endParaRPr/>
          </a:p>
        </p:txBody>
      </p:sp>
      <p:sp>
        <p:nvSpPr>
          <p:cNvPr id="410" name="Google Shape;410;p21"/>
          <p:cNvSpPr txBox="1"/>
          <p:nvPr/>
        </p:nvSpPr>
        <p:spPr>
          <a:xfrm>
            <a:off x="4389120" y="3538728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▸  Függ: cartItems store-tól</a:t>
            </a:r>
            <a:endParaRPr/>
          </a:p>
        </p:txBody>
      </p:sp>
      <p:sp>
        <p:nvSpPr>
          <p:cNvPr id="411" name="Google Shape;411;p21"/>
          <p:cNvSpPr txBox="1"/>
          <p:nvPr/>
        </p:nvSpPr>
        <p:spPr>
          <a:xfrm>
            <a:off x="4389120" y="4133088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▸  Csak olvasható (read-only)</a:t>
            </a:r>
            <a:endParaRPr/>
          </a:p>
        </p:txBody>
      </p:sp>
      <p:sp>
        <p:nvSpPr>
          <p:cNvPr id="412" name="Google Shape;412;p21"/>
          <p:cNvSpPr txBox="1"/>
          <p:nvPr/>
        </p:nvSpPr>
        <p:spPr>
          <a:xfrm>
            <a:off x="4389120" y="4727448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▸  Képlet: Σ(ár × mennyiség)</a:t>
            </a:r>
            <a:endParaRPr/>
          </a:p>
        </p:txBody>
      </p:sp>
      <p:sp>
        <p:nvSpPr>
          <p:cNvPr id="413" name="Google Shape;413;p21"/>
          <p:cNvSpPr txBox="1"/>
          <p:nvPr/>
        </p:nvSpPr>
        <p:spPr>
          <a:xfrm>
            <a:off x="4389120" y="5321808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▸  Automatikus újraszámítás</a:t>
            </a:r>
            <a:endParaRPr/>
          </a:p>
        </p:txBody>
      </p:sp>
      <p:sp>
        <p:nvSpPr>
          <p:cNvPr id="414" name="Google Shape;414;p21"/>
          <p:cNvSpPr/>
          <p:nvPr/>
        </p:nvSpPr>
        <p:spPr>
          <a:xfrm>
            <a:off x="8092440" y="2148840"/>
            <a:ext cx="3566160" cy="658368"/>
          </a:xfrm>
          <a:prstGeom prst="ellipse">
            <a:avLst/>
          </a:prstGeom>
          <a:solidFill>
            <a:srgbClr val="2D1B4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1"/>
          <p:cNvSpPr txBox="1"/>
          <p:nvPr/>
        </p:nvSpPr>
        <p:spPr>
          <a:xfrm>
            <a:off x="8183904" y="2281422"/>
            <a:ext cx="338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isDarkMode</a:t>
            </a:r>
            <a:endParaRPr/>
          </a:p>
        </p:txBody>
      </p:sp>
      <p:sp>
        <p:nvSpPr>
          <p:cNvPr id="416" name="Google Shape;416;p21"/>
          <p:cNvSpPr txBox="1"/>
          <p:nvPr/>
        </p:nvSpPr>
        <p:spPr>
          <a:xfrm>
            <a:off x="8275319" y="2944368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▸  Aktív téma tárolása</a:t>
            </a:r>
            <a:endParaRPr/>
          </a:p>
        </p:txBody>
      </p:sp>
      <p:sp>
        <p:nvSpPr>
          <p:cNvPr id="417" name="Google Shape;417;p21"/>
          <p:cNvSpPr txBox="1"/>
          <p:nvPr/>
        </p:nvSpPr>
        <p:spPr>
          <a:xfrm>
            <a:off x="8275319" y="3538728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▸  Inicializálás: localStorage / true</a:t>
            </a:r>
            <a:endParaRPr/>
          </a:p>
        </p:txBody>
      </p:sp>
      <p:sp>
        <p:nvSpPr>
          <p:cNvPr id="418" name="Google Shape;418;p21"/>
          <p:cNvSpPr txBox="1"/>
          <p:nvPr/>
        </p:nvSpPr>
        <p:spPr>
          <a:xfrm>
            <a:off x="8275319" y="4133088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▸  Side-effect: DOM classList</a:t>
            </a:r>
            <a:endParaRPr/>
          </a:p>
        </p:txBody>
      </p:sp>
      <p:sp>
        <p:nvSpPr>
          <p:cNvPr id="419" name="Google Shape;419;p21"/>
          <p:cNvSpPr txBox="1"/>
          <p:nvPr/>
        </p:nvSpPr>
        <p:spPr>
          <a:xfrm>
            <a:off x="8275319" y="4727448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▸  Perzisztencia: localStorage</a:t>
            </a:r>
            <a:endParaRPr/>
          </a:p>
        </p:txBody>
      </p:sp>
      <p:sp>
        <p:nvSpPr>
          <p:cNvPr id="420" name="Google Shape;420;p21"/>
          <p:cNvSpPr txBox="1"/>
          <p:nvPr/>
        </p:nvSpPr>
        <p:spPr>
          <a:xfrm>
            <a:off x="8275319" y="5321808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▸  Export: toggleTheme() függvény</a:t>
            </a:r>
            <a:endParaRPr/>
          </a:p>
        </p:txBody>
      </p:sp>
      <p:sp>
        <p:nvSpPr>
          <p:cNvPr id="421" name="Google Shape;421;p21"/>
          <p:cNvSpPr txBox="1"/>
          <p:nvPr/>
        </p:nvSpPr>
        <p:spPr>
          <a:xfrm>
            <a:off x="320040" y="6080760"/>
            <a:ext cx="11521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💡  Svelte $-prefix auto-subscribe: "{$cartTotal} Ft" – automatikus DOM frissítés store változáskor, runtime overhead nélkül.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E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2"/>
          <p:cNvSpPr/>
          <p:nvPr/>
        </p:nvSpPr>
        <p:spPr>
          <a:xfrm>
            <a:off x="0" y="502920"/>
            <a:ext cx="6094476" cy="73152"/>
          </a:xfrm>
          <a:prstGeom prst="rect">
            <a:avLst/>
          </a:prstGeom>
          <a:solidFill>
            <a:srgbClr val="EC489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2"/>
          <p:cNvSpPr/>
          <p:nvPr/>
        </p:nvSpPr>
        <p:spPr>
          <a:xfrm>
            <a:off x="6094476" y="502920"/>
            <a:ext cx="6094476" cy="73152"/>
          </a:xfrm>
          <a:prstGeom prst="rect">
            <a:avLst/>
          </a:prstGeom>
          <a:solidFill>
            <a:srgbClr val="9333E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2"/>
          <p:cNvSpPr txBox="1"/>
          <p:nvPr/>
        </p:nvSpPr>
        <p:spPr>
          <a:xfrm>
            <a:off x="365760" y="640080"/>
            <a:ext cx="114300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09  Vizuális Design</a:t>
            </a:r>
            <a:endParaRPr/>
          </a:p>
        </p:txBody>
      </p:sp>
      <p:sp>
        <p:nvSpPr>
          <p:cNvPr id="430" name="Google Shape;430;p22"/>
          <p:cNvSpPr txBox="1"/>
          <p:nvPr/>
        </p:nvSpPr>
        <p:spPr>
          <a:xfrm>
            <a:off x="365760" y="150876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Glassmorphism, animációk, kétféle témamód</a:t>
            </a:r>
            <a:endParaRPr/>
          </a:p>
        </p:txBody>
      </p:sp>
      <p:sp>
        <p:nvSpPr>
          <p:cNvPr id="431" name="Google Shape;431;p22"/>
          <p:cNvSpPr txBox="1"/>
          <p:nvPr/>
        </p:nvSpPr>
        <p:spPr>
          <a:xfrm>
            <a:off x="320040" y="2148840"/>
            <a:ext cx="54864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C48B4A"/>
                </a:solidFill>
                <a:latin typeface="Calibri"/>
                <a:ea typeface="Calibri"/>
                <a:cs typeface="Calibri"/>
                <a:sym typeface="Calibri"/>
              </a:rPr>
              <a:t>Glassmorphism rétegek: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C48B4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1. Háttér blur:   backdrop-blur-xl  (24px)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2. Overlay:       bg-white/[0.08]   (8% fehér)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3. Border:        border-white/[0.15]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4. Árnyék:        shadow-[0_8px_32px_rgba(0,0,0,.4)]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5. Hover:         bg-white/[0.15]  (erősebb)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E5E7E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Animációk: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E5E7E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• twinkle – csillag villogás (sötét mód)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• float   – felhő lebegés   (világos mód)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• transition-all duration-300 (hover)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• transition-opacity duration-700 (téma)</a:t>
            </a:r>
            <a:endParaRPr/>
          </a:p>
        </p:txBody>
      </p:sp>
      <p:sp>
        <p:nvSpPr>
          <p:cNvPr id="432" name="Google Shape;432;p22"/>
          <p:cNvSpPr/>
          <p:nvPr/>
        </p:nvSpPr>
        <p:spPr>
          <a:xfrm>
            <a:off x="5989320" y="2148840"/>
            <a:ext cx="2880360" cy="2130552"/>
          </a:xfrm>
          <a:prstGeom prst="ellipse">
            <a:avLst/>
          </a:prstGeom>
          <a:solidFill>
            <a:srgbClr val="0D0E1A"/>
          </a:solidFill>
          <a:ln cap="flat" cmpd="sng" w="9525">
            <a:solidFill>
              <a:srgbClr val="9333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2"/>
          <p:cNvSpPr txBox="1"/>
          <p:nvPr/>
        </p:nvSpPr>
        <p:spPr>
          <a:xfrm>
            <a:off x="6217920" y="2212848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🌙  Sötét mód</a:t>
            </a:r>
            <a:endParaRPr/>
          </a:p>
        </p:txBody>
      </p:sp>
      <p:sp>
        <p:nvSpPr>
          <p:cNvPr id="434" name="Google Shape;434;p22"/>
          <p:cNvSpPr txBox="1"/>
          <p:nvPr/>
        </p:nvSpPr>
        <p:spPr>
          <a:xfrm>
            <a:off x="6263640" y="2633472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★  Háttér: #0d0e1a</a:t>
            </a:r>
            <a:endParaRPr/>
          </a:p>
        </p:txBody>
      </p:sp>
      <p:sp>
        <p:nvSpPr>
          <p:cNvPr id="435" name="Google Shape;435;p22"/>
          <p:cNvSpPr txBox="1"/>
          <p:nvPr/>
        </p:nvSpPr>
        <p:spPr>
          <a:xfrm>
            <a:off x="6263640" y="2953512"/>
            <a:ext cx="246888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★  Akcentus: pink→fehér gradiens</a:t>
            </a:r>
            <a:endParaRPr b="0" i="0" sz="1100" u="none" cap="none" strike="noStrike">
              <a:solidFill>
                <a:srgbClr val="E5E7E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2"/>
          <p:cNvSpPr txBox="1"/>
          <p:nvPr/>
        </p:nvSpPr>
        <p:spPr>
          <a:xfrm>
            <a:off x="6263640" y="3273552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★  Csillagok + hold</a:t>
            </a:r>
            <a:endParaRPr/>
          </a:p>
        </p:txBody>
      </p:sp>
      <p:sp>
        <p:nvSpPr>
          <p:cNvPr id="437" name="Google Shape;437;p22"/>
          <p:cNvSpPr txBox="1"/>
          <p:nvPr/>
        </p:nvSpPr>
        <p:spPr>
          <a:xfrm>
            <a:off x="6263640" y="3593591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★  text-white / text-gray-200</a:t>
            </a:r>
            <a:endParaRPr/>
          </a:p>
        </p:txBody>
      </p:sp>
      <p:sp>
        <p:nvSpPr>
          <p:cNvPr id="438" name="Google Shape;438;p22"/>
          <p:cNvSpPr/>
          <p:nvPr/>
        </p:nvSpPr>
        <p:spPr>
          <a:xfrm>
            <a:off x="9052560" y="2148839"/>
            <a:ext cx="2834640" cy="2130553"/>
          </a:xfrm>
          <a:prstGeom prst="ellipse">
            <a:avLst/>
          </a:prstGeom>
          <a:solidFill>
            <a:srgbClr val="475569"/>
          </a:solidFill>
          <a:ln cap="flat" cmpd="sng" w="9525">
            <a:solidFill>
              <a:srgbClr val="C48B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2"/>
          <p:cNvSpPr txBox="1"/>
          <p:nvPr/>
        </p:nvSpPr>
        <p:spPr>
          <a:xfrm>
            <a:off x="9235440" y="2212848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☀  Világos mód</a:t>
            </a:r>
            <a:endParaRPr/>
          </a:p>
        </p:txBody>
      </p:sp>
      <p:sp>
        <p:nvSpPr>
          <p:cNvPr id="440" name="Google Shape;440;p22"/>
          <p:cNvSpPr txBox="1"/>
          <p:nvPr/>
        </p:nvSpPr>
        <p:spPr>
          <a:xfrm>
            <a:off x="9281160" y="2633472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☁  Háttér: slate-700 → slate-500</a:t>
            </a:r>
            <a:endParaRPr/>
          </a:p>
        </p:txBody>
      </p:sp>
      <p:sp>
        <p:nvSpPr>
          <p:cNvPr id="441" name="Google Shape;441;p22"/>
          <p:cNvSpPr txBox="1"/>
          <p:nvPr/>
        </p:nvSpPr>
        <p:spPr>
          <a:xfrm>
            <a:off x="9281160" y="2953512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☁  Overlay: bg-white/30</a:t>
            </a:r>
            <a:endParaRPr/>
          </a:p>
        </p:txBody>
      </p:sp>
      <p:sp>
        <p:nvSpPr>
          <p:cNvPr id="442" name="Google Shape;442;p22"/>
          <p:cNvSpPr txBox="1"/>
          <p:nvPr/>
        </p:nvSpPr>
        <p:spPr>
          <a:xfrm>
            <a:off x="9281160" y="3273552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☁  Felhők + nap</a:t>
            </a:r>
            <a:endParaRPr/>
          </a:p>
        </p:txBody>
      </p:sp>
      <p:sp>
        <p:nvSpPr>
          <p:cNvPr id="443" name="Google Shape;443;p22"/>
          <p:cNvSpPr txBox="1"/>
          <p:nvPr/>
        </p:nvSpPr>
        <p:spPr>
          <a:xfrm>
            <a:off x="9281160" y="3593591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☁  text-gray-800</a:t>
            </a:r>
            <a:endParaRPr/>
          </a:p>
        </p:txBody>
      </p:sp>
      <p:sp>
        <p:nvSpPr>
          <p:cNvPr id="444" name="Google Shape;444;p22"/>
          <p:cNvSpPr txBox="1"/>
          <p:nvPr/>
        </p:nvSpPr>
        <p:spPr>
          <a:xfrm>
            <a:off x="6126480" y="4279392"/>
            <a:ext cx="58521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C48B4A"/>
                </a:solidFill>
                <a:latin typeface="Calibri"/>
                <a:ea typeface="Calibri"/>
                <a:cs typeface="Calibri"/>
                <a:sym typeface="Calibri"/>
              </a:rPr>
              <a:t>Responsive rács rendszer:</a:t>
            </a:r>
            <a:endParaRPr/>
          </a:p>
        </p:txBody>
      </p:sp>
      <p:sp>
        <p:nvSpPr>
          <p:cNvPr id="445" name="Google Shape;445;p22"/>
          <p:cNvSpPr txBox="1"/>
          <p:nvPr/>
        </p:nvSpPr>
        <p:spPr>
          <a:xfrm>
            <a:off x="6126480" y="4663440"/>
            <a:ext cx="58521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• Mobil (&lt; 768px):   1 oszlop   grid-cols-1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• Tablet (768px+):   2 oszlop   md:grid-cols-2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• Desktop (1024px+): 3 oszlop   lg:grid-cols-3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• Max szélesség:  max-w-6xl mx-auto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E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3"/>
          <p:cNvSpPr/>
          <p:nvPr/>
        </p:nvSpPr>
        <p:spPr>
          <a:xfrm>
            <a:off x="0" y="502920"/>
            <a:ext cx="6094476" cy="73152"/>
          </a:xfrm>
          <a:prstGeom prst="rect">
            <a:avLst/>
          </a:prstGeom>
          <a:solidFill>
            <a:srgbClr val="EC489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3"/>
          <p:cNvSpPr/>
          <p:nvPr/>
        </p:nvSpPr>
        <p:spPr>
          <a:xfrm>
            <a:off x="6094476" y="502920"/>
            <a:ext cx="6094476" cy="73152"/>
          </a:xfrm>
          <a:prstGeom prst="rect">
            <a:avLst/>
          </a:prstGeom>
          <a:solidFill>
            <a:srgbClr val="9333E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3"/>
          <p:cNvSpPr txBox="1"/>
          <p:nvPr/>
        </p:nvSpPr>
        <p:spPr>
          <a:xfrm>
            <a:off x="365760" y="640080"/>
            <a:ext cx="114300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10  Tesztelés</a:t>
            </a:r>
            <a:endParaRPr/>
          </a:p>
        </p:txBody>
      </p:sp>
      <p:sp>
        <p:nvSpPr>
          <p:cNvPr id="454" name="Google Shape;454;p23"/>
          <p:cNvSpPr txBox="1"/>
          <p:nvPr/>
        </p:nvSpPr>
        <p:spPr>
          <a:xfrm>
            <a:off x="365760" y="150876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Vitest – unit és integrációs tesztek, 110+ teszteset</a:t>
            </a:r>
            <a:endParaRPr/>
          </a:p>
        </p:txBody>
      </p:sp>
      <p:sp>
        <p:nvSpPr>
          <p:cNvPr id="455" name="Google Shape;455;p23"/>
          <p:cNvSpPr/>
          <p:nvPr/>
        </p:nvSpPr>
        <p:spPr>
          <a:xfrm>
            <a:off x="320040" y="2148840"/>
            <a:ext cx="2743200" cy="475488"/>
          </a:xfrm>
          <a:prstGeom prst="ellipse">
            <a:avLst/>
          </a:prstGeom>
          <a:solidFill>
            <a:srgbClr val="7B441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3"/>
          <p:cNvSpPr txBox="1"/>
          <p:nvPr/>
        </p:nvSpPr>
        <p:spPr>
          <a:xfrm>
            <a:off x="411479" y="2176272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Validációs függvények</a:t>
            </a:r>
            <a:endParaRPr/>
          </a:p>
        </p:txBody>
      </p:sp>
      <p:sp>
        <p:nvSpPr>
          <p:cNvPr id="457" name="Google Shape;457;p23"/>
          <p:cNvSpPr txBox="1"/>
          <p:nvPr/>
        </p:nvSpPr>
        <p:spPr>
          <a:xfrm>
            <a:off x="411479" y="274320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tests/utils.test.ts</a:t>
            </a:r>
            <a:endParaRPr/>
          </a:p>
        </p:txBody>
      </p:sp>
      <p:sp>
        <p:nvSpPr>
          <p:cNvPr id="458" name="Google Shape;458;p23"/>
          <p:cNvSpPr/>
          <p:nvPr/>
        </p:nvSpPr>
        <p:spPr>
          <a:xfrm>
            <a:off x="1097280" y="3108960"/>
            <a:ext cx="1188720" cy="365760"/>
          </a:xfrm>
          <a:prstGeom prst="ellipse">
            <a:avLst/>
          </a:prstGeom>
          <a:solidFill>
            <a:srgbClr val="7B4418"/>
          </a:solidFill>
          <a:ln cap="flat" cmpd="sng" w="9525">
            <a:solidFill>
              <a:srgbClr val="7B441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59 eset</a:t>
            </a:r>
            <a:endParaRPr/>
          </a:p>
        </p:txBody>
      </p:sp>
      <p:sp>
        <p:nvSpPr>
          <p:cNvPr id="459" name="Google Shape;459;p23"/>
          <p:cNvSpPr txBox="1"/>
          <p:nvPr/>
        </p:nvSpPr>
        <p:spPr>
          <a:xfrm>
            <a:off x="411479" y="3611880"/>
            <a:ext cx="2606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• validateEmail – 12 eset</a:t>
            </a:r>
            <a:endParaRPr/>
          </a:p>
        </p:txBody>
      </p:sp>
      <p:sp>
        <p:nvSpPr>
          <p:cNvPr id="460" name="Google Shape;460;p23"/>
          <p:cNvSpPr txBox="1"/>
          <p:nvPr/>
        </p:nvSpPr>
        <p:spPr>
          <a:xfrm>
            <a:off x="411479" y="4114800"/>
            <a:ext cx="2606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• validatePhone – 14 eset</a:t>
            </a:r>
            <a:endParaRPr/>
          </a:p>
        </p:txBody>
      </p:sp>
      <p:sp>
        <p:nvSpPr>
          <p:cNvPr id="461" name="Google Shape;461;p23"/>
          <p:cNvSpPr txBox="1"/>
          <p:nvPr/>
        </p:nvSpPr>
        <p:spPr>
          <a:xfrm>
            <a:off x="411479" y="4617720"/>
            <a:ext cx="2606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• validateZip – 10 eset</a:t>
            </a:r>
            <a:endParaRPr/>
          </a:p>
        </p:txBody>
      </p:sp>
      <p:sp>
        <p:nvSpPr>
          <p:cNvPr id="462" name="Google Shape;462;p23"/>
          <p:cNvSpPr txBox="1"/>
          <p:nvPr/>
        </p:nvSpPr>
        <p:spPr>
          <a:xfrm>
            <a:off x="411479" y="5120640"/>
            <a:ext cx="2606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• validateCity – 12 eset</a:t>
            </a:r>
            <a:endParaRPr/>
          </a:p>
        </p:txBody>
      </p:sp>
      <p:sp>
        <p:nvSpPr>
          <p:cNvPr id="463" name="Google Shape;463;p23"/>
          <p:cNvSpPr txBox="1"/>
          <p:nvPr/>
        </p:nvSpPr>
        <p:spPr>
          <a:xfrm>
            <a:off x="411479" y="5623560"/>
            <a:ext cx="2606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• validateStreet – 11 eset</a:t>
            </a:r>
            <a:endParaRPr/>
          </a:p>
        </p:txBody>
      </p:sp>
      <p:sp>
        <p:nvSpPr>
          <p:cNvPr id="464" name="Google Shape;464;p23"/>
          <p:cNvSpPr/>
          <p:nvPr/>
        </p:nvSpPr>
        <p:spPr>
          <a:xfrm>
            <a:off x="3337560" y="2148840"/>
            <a:ext cx="2743200" cy="475488"/>
          </a:xfrm>
          <a:prstGeom prst="ellipse">
            <a:avLst/>
          </a:prstGeom>
          <a:solidFill>
            <a:srgbClr val="066B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3"/>
          <p:cNvSpPr txBox="1"/>
          <p:nvPr/>
        </p:nvSpPr>
        <p:spPr>
          <a:xfrm>
            <a:off x="3429000" y="2176272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Kosár store</a:t>
            </a:r>
            <a:endParaRPr/>
          </a:p>
        </p:txBody>
      </p:sp>
      <p:sp>
        <p:nvSpPr>
          <p:cNvPr id="466" name="Google Shape;466;p23"/>
          <p:cNvSpPr txBox="1"/>
          <p:nvPr/>
        </p:nvSpPr>
        <p:spPr>
          <a:xfrm>
            <a:off x="3429000" y="274320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tests/cart.test.ts</a:t>
            </a:r>
            <a:endParaRPr/>
          </a:p>
        </p:txBody>
      </p:sp>
      <p:sp>
        <p:nvSpPr>
          <p:cNvPr id="467" name="Google Shape;467;p23"/>
          <p:cNvSpPr/>
          <p:nvPr/>
        </p:nvSpPr>
        <p:spPr>
          <a:xfrm>
            <a:off x="4114800" y="3108960"/>
            <a:ext cx="1188720" cy="365760"/>
          </a:xfrm>
          <a:prstGeom prst="ellipse">
            <a:avLst/>
          </a:prstGeom>
          <a:solidFill>
            <a:srgbClr val="066B4A"/>
          </a:solidFill>
          <a:ln cap="flat" cmpd="sng" w="9525">
            <a:solidFill>
              <a:srgbClr val="066B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15 eset</a:t>
            </a:r>
            <a:endParaRPr/>
          </a:p>
        </p:txBody>
      </p:sp>
      <p:sp>
        <p:nvSpPr>
          <p:cNvPr id="468" name="Google Shape;468;p23"/>
          <p:cNvSpPr txBox="1"/>
          <p:nvPr/>
        </p:nvSpPr>
        <p:spPr>
          <a:xfrm>
            <a:off x="3429000" y="3611880"/>
            <a:ext cx="2606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• addToCart – termék hozzáadás</a:t>
            </a:r>
            <a:endParaRPr/>
          </a:p>
        </p:txBody>
      </p:sp>
      <p:sp>
        <p:nvSpPr>
          <p:cNvPr id="469" name="Google Shape;469;p23"/>
          <p:cNvSpPr txBox="1"/>
          <p:nvPr/>
        </p:nvSpPr>
        <p:spPr>
          <a:xfrm>
            <a:off x="3429000" y="4114800"/>
            <a:ext cx="2606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• cartTotal – végösszeg számítás</a:t>
            </a:r>
            <a:endParaRPr/>
          </a:p>
        </p:txBody>
      </p:sp>
      <p:sp>
        <p:nvSpPr>
          <p:cNvPr id="470" name="Google Shape;470;p23"/>
          <p:cNvSpPr txBox="1"/>
          <p:nvPr/>
        </p:nvSpPr>
        <p:spPr>
          <a:xfrm>
            <a:off x="3429000" y="4617720"/>
            <a:ext cx="2606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• mennyiség kezelés</a:t>
            </a:r>
            <a:endParaRPr/>
          </a:p>
        </p:txBody>
      </p:sp>
      <p:sp>
        <p:nvSpPr>
          <p:cNvPr id="471" name="Google Shape;471;p23"/>
          <p:cNvSpPr txBox="1"/>
          <p:nvPr/>
        </p:nvSpPr>
        <p:spPr>
          <a:xfrm>
            <a:off x="3429000" y="5120640"/>
            <a:ext cx="2606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• módosítók (tej, cukor)</a:t>
            </a:r>
            <a:endParaRPr/>
          </a:p>
        </p:txBody>
      </p:sp>
      <p:sp>
        <p:nvSpPr>
          <p:cNvPr id="472" name="Google Shape;472;p23"/>
          <p:cNvSpPr txBox="1"/>
          <p:nvPr/>
        </p:nvSpPr>
        <p:spPr>
          <a:xfrm>
            <a:off x="3429000" y="5623560"/>
            <a:ext cx="2606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• több tétel kezelése</a:t>
            </a:r>
            <a:endParaRPr/>
          </a:p>
        </p:txBody>
      </p:sp>
      <p:sp>
        <p:nvSpPr>
          <p:cNvPr id="473" name="Google Shape;473;p23"/>
          <p:cNvSpPr/>
          <p:nvPr/>
        </p:nvSpPr>
        <p:spPr>
          <a:xfrm>
            <a:off x="6355080" y="2148840"/>
            <a:ext cx="2743200" cy="475488"/>
          </a:xfrm>
          <a:prstGeom prst="ellipse">
            <a:avLst/>
          </a:prstGeom>
          <a:solidFill>
            <a:srgbClr val="3178C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3"/>
          <p:cNvSpPr txBox="1"/>
          <p:nvPr/>
        </p:nvSpPr>
        <p:spPr>
          <a:xfrm>
            <a:off x="6446520" y="2176272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API kliens</a:t>
            </a:r>
            <a:endParaRPr/>
          </a:p>
        </p:txBody>
      </p:sp>
      <p:sp>
        <p:nvSpPr>
          <p:cNvPr id="475" name="Google Shape;475;p23"/>
          <p:cNvSpPr txBox="1"/>
          <p:nvPr/>
        </p:nvSpPr>
        <p:spPr>
          <a:xfrm>
            <a:off x="6446520" y="274320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tests/api.test.ts</a:t>
            </a:r>
            <a:endParaRPr/>
          </a:p>
        </p:txBody>
      </p:sp>
      <p:sp>
        <p:nvSpPr>
          <p:cNvPr id="476" name="Google Shape;476;p23"/>
          <p:cNvSpPr/>
          <p:nvPr/>
        </p:nvSpPr>
        <p:spPr>
          <a:xfrm>
            <a:off x="7132320" y="3108960"/>
            <a:ext cx="1188720" cy="365760"/>
          </a:xfrm>
          <a:prstGeom prst="ellipse">
            <a:avLst/>
          </a:prstGeom>
          <a:solidFill>
            <a:srgbClr val="3178C6"/>
          </a:solidFill>
          <a:ln cap="flat" cmpd="sng" w="9525">
            <a:solidFill>
              <a:srgbClr val="3178C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16 eset</a:t>
            </a:r>
            <a:endParaRPr/>
          </a:p>
        </p:txBody>
      </p:sp>
      <p:sp>
        <p:nvSpPr>
          <p:cNvPr id="477" name="Google Shape;477;p23"/>
          <p:cNvSpPr txBox="1"/>
          <p:nvPr/>
        </p:nvSpPr>
        <p:spPr>
          <a:xfrm>
            <a:off x="6446520" y="3611880"/>
            <a:ext cx="2606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• Token set/get/clear</a:t>
            </a:r>
            <a:endParaRPr/>
          </a:p>
        </p:txBody>
      </p:sp>
      <p:sp>
        <p:nvSpPr>
          <p:cNvPr id="478" name="Google Shape;478;p23"/>
          <p:cNvSpPr txBox="1"/>
          <p:nvPr/>
        </p:nvSpPr>
        <p:spPr>
          <a:xfrm>
            <a:off x="6446520" y="4114800"/>
            <a:ext cx="2606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• authHeaders generálás</a:t>
            </a:r>
            <a:endParaRPr/>
          </a:p>
        </p:txBody>
      </p:sp>
      <p:sp>
        <p:nvSpPr>
          <p:cNvPr id="479" name="Google Shape;479;p23"/>
          <p:cNvSpPr txBox="1"/>
          <p:nvPr/>
        </p:nvSpPr>
        <p:spPr>
          <a:xfrm>
            <a:off x="6446520" y="4617720"/>
            <a:ext cx="2606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• login/logout hívás</a:t>
            </a:r>
            <a:endParaRPr/>
          </a:p>
        </p:txBody>
      </p:sp>
      <p:sp>
        <p:nvSpPr>
          <p:cNvPr id="480" name="Google Shape;480;p23"/>
          <p:cNvSpPr txBox="1"/>
          <p:nvPr/>
        </p:nvSpPr>
        <p:spPr>
          <a:xfrm>
            <a:off x="6446520" y="5120640"/>
            <a:ext cx="2606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• hiba kezelés</a:t>
            </a:r>
            <a:endParaRPr/>
          </a:p>
        </p:txBody>
      </p:sp>
      <p:sp>
        <p:nvSpPr>
          <p:cNvPr id="481" name="Google Shape;481;p23"/>
          <p:cNvSpPr txBox="1"/>
          <p:nvPr/>
        </p:nvSpPr>
        <p:spPr>
          <a:xfrm>
            <a:off x="6446520" y="5623560"/>
            <a:ext cx="2606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• fetch wrapper</a:t>
            </a:r>
            <a:endParaRPr/>
          </a:p>
        </p:txBody>
      </p:sp>
      <p:sp>
        <p:nvSpPr>
          <p:cNvPr id="482" name="Google Shape;482;p23"/>
          <p:cNvSpPr/>
          <p:nvPr/>
        </p:nvSpPr>
        <p:spPr>
          <a:xfrm>
            <a:off x="9326880" y="2148840"/>
            <a:ext cx="2743200" cy="475488"/>
          </a:xfrm>
          <a:prstGeom prst="ellipse">
            <a:avLst/>
          </a:prstGeom>
          <a:solidFill>
            <a:srgbClr val="2D1B4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3"/>
          <p:cNvSpPr txBox="1"/>
          <p:nvPr/>
        </p:nvSpPr>
        <p:spPr>
          <a:xfrm>
            <a:off x="9418319" y="2176272"/>
            <a:ext cx="2560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Backend integrációs</a:t>
            </a:r>
            <a:endParaRPr/>
          </a:p>
        </p:txBody>
      </p:sp>
      <p:sp>
        <p:nvSpPr>
          <p:cNvPr id="484" name="Google Shape;484;p23"/>
          <p:cNvSpPr txBox="1"/>
          <p:nvPr/>
        </p:nvSpPr>
        <p:spPr>
          <a:xfrm>
            <a:off x="9418319" y="274320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tests/server.test.ts</a:t>
            </a:r>
            <a:endParaRPr/>
          </a:p>
        </p:txBody>
      </p:sp>
      <p:sp>
        <p:nvSpPr>
          <p:cNvPr id="485" name="Google Shape;485;p23"/>
          <p:cNvSpPr/>
          <p:nvPr/>
        </p:nvSpPr>
        <p:spPr>
          <a:xfrm>
            <a:off x="10104119" y="3108960"/>
            <a:ext cx="1188720" cy="365760"/>
          </a:xfrm>
          <a:prstGeom prst="ellipse">
            <a:avLst/>
          </a:prstGeom>
          <a:solidFill>
            <a:srgbClr val="2D1B4E"/>
          </a:solidFill>
          <a:ln cap="flat" cmpd="sng" w="9525">
            <a:solidFill>
              <a:srgbClr val="2D1B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~20 eset</a:t>
            </a:r>
            <a:endParaRPr/>
          </a:p>
        </p:txBody>
      </p:sp>
      <p:sp>
        <p:nvSpPr>
          <p:cNvPr id="486" name="Google Shape;486;p23"/>
          <p:cNvSpPr txBox="1"/>
          <p:nvPr/>
        </p:nvSpPr>
        <p:spPr>
          <a:xfrm>
            <a:off x="9418319" y="3611880"/>
            <a:ext cx="2606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• API végpontok tesztelése</a:t>
            </a:r>
            <a:endParaRPr/>
          </a:p>
        </p:txBody>
      </p:sp>
      <p:sp>
        <p:nvSpPr>
          <p:cNvPr id="487" name="Google Shape;487;p23"/>
          <p:cNvSpPr txBox="1"/>
          <p:nvPr/>
        </p:nvSpPr>
        <p:spPr>
          <a:xfrm>
            <a:off x="9418319" y="4114800"/>
            <a:ext cx="2606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• JWT autentikáció</a:t>
            </a:r>
            <a:endParaRPr/>
          </a:p>
        </p:txBody>
      </p:sp>
      <p:sp>
        <p:nvSpPr>
          <p:cNvPr id="488" name="Google Shape;488;p23"/>
          <p:cNvSpPr txBox="1"/>
          <p:nvPr/>
        </p:nvSpPr>
        <p:spPr>
          <a:xfrm>
            <a:off x="9418319" y="4617720"/>
            <a:ext cx="2606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• Rendelés CRUD</a:t>
            </a:r>
            <a:endParaRPr/>
          </a:p>
        </p:txBody>
      </p:sp>
      <p:sp>
        <p:nvSpPr>
          <p:cNvPr id="489" name="Google Shape;489;p23"/>
          <p:cNvSpPr txBox="1"/>
          <p:nvPr/>
        </p:nvSpPr>
        <p:spPr>
          <a:xfrm>
            <a:off x="9418319" y="5120640"/>
            <a:ext cx="2606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• Termék végpontok</a:t>
            </a:r>
            <a:endParaRPr/>
          </a:p>
        </p:txBody>
      </p:sp>
      <p:sp>
        <p:nvSpPr>
          <p:cNvPr id="490" name="Google Shape;490;p23"/>
          <p:cNvSpPr txBox="1"/>
          <p:nvPr/>
        </p:nvSpPr>
        <p:spPr>
          <a:xfrm>
            <a:off x="9418319" y="5623560"/>
            <a:ext cx="2606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• Szerver fut közben</a:t>
            </a:r>
            <a:endParaRPr/>
          </a:p>
        </p:txBody>
      </p:sp>
      <p:sp>
        <p:nvSpPr>
          <p:cNvPr id="491" name="Google Shape;491;p23"/>
          <p:cNvSpPr txBox="1"/>
          <p:nvPr/>
        </p:nvSpPr>
        <p:spPr>
          <a:xfrm>
            <a:off x="320040" y="6144768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48B4A"/>
                </a:solidFill>
                <a:latin typeface="Calibri"/>
                <a:ea typeface="Calibri"/>
                <a:cs typeface="Calibri"/>
                <a:sym typeface="Calibri"/>
              </a:rPr>
              <a:t>Futtatás:</a:t>
            </a:r>
            <a:endParaRPr/>
          </a:p>
        </p:txBody>
      </p:sp>
      <p:sp>
        <p:nvSpPr>
          <p:cNvPr id="492" name="Google Shape;492;p23"/>
          <p:cNvSpPr txBox="1"/>
          <p:nvPr/>
        </p:nvSpPr>
        <p:spPr>
          <a:xfrm>
            <a:off x="320040" y="6446520"/>
            <a:ext cx="11521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npm run test   |   npm run test:watch   |   npm run test:server   |   npm run test:all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2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E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4"/>
          <p:cNvSpPr/>
          <p:nvPr/>
        </p:nvSpPr>
        <p:spPr>
          <a:xfrm>
            <a:off x="0" y="502920"/>
            <a:ext cx="6094476" cy="73152"/>
          </a:xfrm>
          <a:prstGeom prst="rect">
            <a:avLst/>
          </a:prstGeom>
          <a:solidFill>
            <a:srgbClr val="EC489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4"/>
          <p:cNvSpPr/>
          <p:nvPr/>
        </p:nvSpPr>
        <p:spPr>
          <a:xfrm>
            <a:off x="6094476" y="502920"/>
            <a:ext cx="6094476" cy="73152"/>
          </a:xfrm>
          <a:prstGeom prst="rect">
            <a:avLst/>
          </a:prstGeom>
          <a:solidFill>
            <a:srgbClr val="9333E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4"/>
          <p:cNvSpPr txBox="1"/>
          <p:nvPr/>
        </p:nvSpPr>
        <p:spPr>
          <a:xfrm>
            <a:off x="365760" y="640080"/>
            <a:ext cx="114300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11  Fejlesztési parancsok</a:t>
            </a:r>
            <a:endParaRPr/>
          </a:p>
        </p:txBody>
      </p:sp>
      <p:sp>
        <p:nvSpPr>
          <p:cNvPr id="501" name="Google Shape;501;p24"/>
          <p:cNvSpPr txBox="1"/>
          <p:nvPr/>
        </p:nvSpPr>
        <p:spPr>
          <a:xfrm>
            <a:off x="365760" y="150876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NPM szkriptek – fejlesztés, adatbázis, tesztelés, build</a:t>
            </a:r>
            <a:endParaRPr/>
          </a:p>
        </p:txBody>
      </p:sp>
      <p:sp>
        <p:nvSpPr>
          <p:cNvPr id="502" name="Google Shape;502;p24"/>
          <p:cNvSpPr txBox="1"/>
          <p:nvPr/>
        </p:nvSpPr>
        <p:spPr>
          <a:xfrm>
            <a:off x="320040" y="2176272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C48B4A"/>
                </a:solidFill>
                <a:latin typeface="Calibri"/>
                <a:ea typeface="Calibri"/>
                <a:cs typeface="Calibri"/>
                <a:sym typeface="Calibri"/>
              </a:rPr>
              <a:t>▶ Fejlesztés</a:t>
            </a:r>
            <a:endParaRPr/>
          </a:p>
        </p:txBody>
      </p:sp>
      <p:sp>
        <p:nvSpPr>
          <p:cNvPr id="503" name="Google Shape;503;p24"/>
          <p:cNvSpPr/>
          <p:nvPr/>
        </p:nvSpPr>
        <p:spPr>
          <a:xfrm>
            <a:off x="320040" y="2560320"/>
            <a:ext cx="5669280" cy="438912"/>
          </a:xfrm>
          <a:prstGeom prst="rect">
            <a:avLst/>
          </a:prstGeom>
          <a:solidFill>
            <a:srgbClr val="140C0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4"/>
          <p:cNvSpPr txBox="1"/>
          <p:nvPr/>
        </p:nvSpPr>
        <p:spPr>
          <a:xfrm>
            <a:off x="457200" y="2606039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npm run dev</a:t>
            </a:r>
            <a:endParaRPr/>
          </a:p>
        </p:txBody>
      </p:sp>
      <p:sp>
        <p:nvSpPr>
          <p:cNvPr id="505" name="Google Shape;505;p24"/>
          <p:cNvSpPr txBox="1"/>
          <p:nvPr/>
        </p:nvSpPr>
        <p:spPr>
          <a:xfrm>
            <a:off x="2743200" y="2606039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Frontend dev szerver  (port 5173)</a:t>
            </a:r>
            <a:endParaRPr/>
          </a:p>
        </p:txBody>
      </p:sp>
      <p:sp>
        <p:nvSpPr>
          <p:cNvPr id="506" name="Google Shape;506;p24"/>
          <p:cNvSpPr/>
          <p:nvPr/>
        </p:nvSpPr>
        <p:spPr>
          <a:xfrm>
            <a:off x="320040" y="3017520"/>
            <a:ext cx="5669280" cy="438912"/>
          </a:xfrm>
          <a:prstGeom prst="rect">
            <a:avLst/>
          </a:prstGeom>
          <a:solidFill>
            <a:srgbClr val="140C0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4"/>
          <p:cNvSpPr txBox="1"/>
          <p:nvPr/>
        </p:nvSpPr>
        <p:spPr>
          <a:xfrm>
            <a:off x="457200" y="3063239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npm run server</a:t>
            </a:r>
            <a:endParaRPr/>
          </a:p>
        </p:txBody>
      </p:sp>
      <p:sp>
        <p:nvSpPr>
          <p:cNvPr id="508" name="Google Shape;508;p24"/>
          <p:cNvSpPr txBox="1"/>
          <p:nvPr/>
        </p:nvSpPr>
        <p:spPr>
          <a:xfrm>
            <a:off x="2743200" y="3063239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Backend API szerver   (port 3000)</a:t>
            </a:r>
            <a:endParaRPr/>
          </a:p>
        </p:txBody>
      </p:sp>
      <p:sp>
        <p:nvSpPr>
          <p:cNvPr id="509" name="Google Shape;509;p24"/>
          <p:cNvSpPr/>
          <p:nvPr/>
        </p:nvSpPr>
        <p:spPr>
          <a:xfrm>
            <a:off x="320040" y="3474720"/>
            <a:ext cx="5669280" cy="438912"/>
          </a:xfrm>
          <a:prstGeom prst="rect">
            <a:avLst/>
          </a:prstGeom>
          <a:solidFill>
            <a:srgbClr val="140C0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4"/>
          <p:cNvSpPr txBox="1"/>
          <p:nvPr/>
        </p:nvSpPr>
        <p:spPr>
          <a:xfrm>
            <a:off x="457200" y="3520439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npm run dev:all</a:t>
            </a:r>
            <a:endParaRPr/>
          </a:p>
        </p:txBody>
      </p:sp>
      <p:sp>
        <p:nvSpPr>
          <p:cNvPr id="511" name="Google Shape;511;p24"/>
          <p:cNvSpPr txBox="1"/>
          <p:nvPr/>
        </p:nvSpPr>
        <p:spPr>
          <a:xfrm>
            <a:off x="2743200" y="3520439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Mindkettő egyszerre   (concurrently)</a:t>
            </a:r>
            <a:endParaRPr/>
          </a:p>
        </p:txBody>
      </p:sp>
      <p:sp>
        <p:nvSpPr>
          <p:cNvPr id="512" name="Google Shape;512;p24"/>
          <p:cNvSpPr txBox="1"/>
          <p:nvPr/>
        </p:nvSpPr>
        <p:spPr>
          <a:xfrm>
            <a:off x="320040" y="4114800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C48B4A"/>
                </a:solidFill>
                <a:latin typeface="Calibri"/>
                <a:ea typeface="Calibri"/>
                <a:cs typeface="Calibri"/>
                <a:sym typeface="Calibri"/>
              </a:rPr>
              <a:t>🗄 Adatbázis</a:t>
            </a:r>
            <a:endParaRPr/>
          </a:p>
        </p:txBody>
      </p:sp>
      <p:sp>
        <p:nvSpPr>
          <p:cNvPr id="513" name="Google Shape;513;p24"/>
          <p:cNvSpPr/>
          <p:nvPr/>
        </p:nvSpPr>
        <p:spPr>
          <a:xfrm>
            <a:off x="320040" y="4498848"/>
            <a:ext cx="5669280" cy="438912"/>
          </a:xfrm>
          <a:prstGeom prst="rect">
            <a:avLst/>
          </a:prstGeom>
          <a:solidFill>
            <a:srgbClr val="140C0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4"/>
          <p:cNvSpPr txBox="1"/>
          <p:nvPr/>
        </p:nvSpPr>
        <p:spPr>
          <a:xfrm>
            <a:off x="457200" y="4544568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npm run db:init</a:t>
            </a:r>
            <a:endParaRPr/>
          </a:p>
        </p:txBody>
      </p:sp>
      <p:sp>
        <p:nvSpPr>
          <p:cNvPr id="515" name="Google Shape;515;p24"/>
          <p:cNvSpPr txBox="1"/>
          <p:nvPr/>
        </p:nvSpPr>
        <p:spPr>
          <a:xfrm>
            <a:off x="2743200" y="4544568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Adatbázis inicializálása</a:t>
            </a:r>
            <a:endParaRPr/>
          </a:p>
        </p:txBody>
      </p:sp>
      <p:sp>
        <p:nvSpPr>
          <p:cNvPr id="516" name="Google Shape;516;p24"/>
          <p:cNvSpPr/>
          <p:nvPr/>
        </p:nvSpPr>
        <p:spPr>
          <a:xfrm>
            <a:off x="320040" y="4956048"/>
            <a:ext cx="5669280" cy="438912"/>
          </a:xfrm>
          <a:prstGeom prst="rect">
            <a:avLst/>
          </a:prstGeom>
          <a:solidFill>
            <a:srgbClr val="140C0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4"/>
          <p:cNvSpPr txBox="1"/>
          <p:nvPr/>
        </p:nvSpPr>
        <p:spPr>
          <a:xfrm>
            <a:off x="457200" y="5001768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npm run db:reset</a:t>
            </a:r>
            <a:endParaRPr/>
          </a:p>
        </p:txBody>
      </p:sp>
      <p:sp>
        <p:nvSpPr>
          <p:cNvPr id="518" name="Google Shape;518;p24"/>
          <p:cNvSpPr txBox="1"/>
          <p:nvPr/>
        </p:nvSpPr>
        <p:spPr>
          <a:xfrm>
            <a:off x="2743200" y="5001768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Adatbázis visszaállítása</a:t>
            </a:r>
            <a:endParaRPr/>
          </a:p>
        </p:txBody>
      </p:sp>
      <p:sp>
        <p:nvSpPr>
          <p:cNvPr id="519" name="Google Shape;519;p24"/>
          <p:cNvSpPr/>
          <p:nvPr/>
        </p:nvSpPr>
        <p:spPr>
          <a:xfrm>
            <a:off x="320040" y="5413248"/>
            <a:ext cx="5669280" cy="438912"/>
          </a:xfrm>
          <a:prstGeom prst="rect">
            <a:avLst/>
          </a:prstGeom>
          <a:solidFill>
            <a:srgbClr val="140C0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4"/>
          <p:cNvSpPr txBox="1"/>
          <p:nvPr/>
        </p:nvSpPr>
        <p:spPr>
          <a:xfrm>
            <a:off x="457200" y="5458968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npm run db:check</a:t>
            </a:r>
            <a:endParaRPr/>
          </a:p>
        </p:txBody>
      </p:sp>
      <p:sp>
        <p:nvSpPr>
          <p:cNvPr id="521" name="Google Shape;521;p24"/>
          <p:cNvSpPr txBox="1"/>
          <p:nvPr/>
        </p:nvSpPr>
        <p:spPr>
          <a:xfrm>
            <a:off x="2743200" y="5458968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Adatbázis ellenőrzése</a:t>
            </a:r>
            <a:endParaRPr/>
          </a:p>
        </p:txBody>
      </p:sp>
      <p:sp>
        <p:nvSpPr>
          <p:cNvPr id="522" name="Google Shape;522;p24"/>
          <p:cNvSpPr/>
          <p:nvPr/>
        </p:nvSpPr>
        <p:spPr>
          <a:xfrm>
            <a:off x="320040" y="5870448"/>
            <a:ext cx="5669280" cy="438912"/>
          </a:xfrm>
          <a:prstGeom prst="rect">
            <a:avLst/>
          </a:prstGeom>
          <a:solidFill>
            <a:srgbClr val="140C0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4"/>
          <p:cNvSpPr txBox="1"/>
          <p:nvPr/>
        </p:nvSpPr>
        <p:spPr>
          <a:xfrm>
            <a:off x="457200" y="5916168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npm run db:seed</a:t>
            </a:r>
            <a:endParaRPr/>
          </a:p>
        </p:txBody>
      </p:sp>
      <p:sp>
        <p:nvSpPr>
          <p:cNvPr id="524" name="Google Shape;524;p24"/>
          <p:cNvSpPr txBox="1"/>
          <p:nvPr/>
        </p:nvSpPr>
        <p:spPr>
          <a:xfrm>
            <a:off x="2743200" y="5916168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Tesztadatok betöltése</a:t>
            </a:r>
            <a:endParaRPr/>
          </a:p>
        </p:txBody>
      </p:sp>
      <p:sp>
        <p:nvSpPr>
          <p:cNvPr id="525" name="Google Shape;525;p24"/>
          <p:cNvSpPr txBox="1"/>
          <p:nvPr/>
        </p:nvSpPr>
        <p:spPr>
          <a:xfrm>
            <a:off x="6355079" y="2176272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C48B4A"/>
                </a:solidFill>
                <a:latin typeface="Calibri"/>
                <a:ea typeface="Calibri"/>
                <a:cs typeface="Calibri"/>
                <a:sym typeface="Calibri"/>
              </a:rPr>
              <a:t>🧪 Tesztelés</a:t>
            </a:r>
            <a:endParaRPr/>
          </a:p>
        </p:txBody>
      </p:sp>
      <p:sp>
        <p:nvSpPr>
          <p:cNvPr id="526" name="Google Shape;526;p24"/>
          <p:cNvSpPr/>
          <p:nvPr/>
        </p:nvSpPr>
        <p:spPr>
          <a:xfrm>
            <a:off x="6355079" y="2560320"/>
            <a:ext cx="5669280" cy="438912"/>
          </a:xfrm>
          <a:prstGeom prst="rect">
            <a:avLst/>
          </a:prstGeom>
          <a:solidFill>
            <a:srgbClr val="140C0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4"/>
          <p:cNvSpPr txBox="1"/>
          <p:nvPr/>
        </p:nvSpPr>
        <p:spPr>
          <a:xfrm>
            <a:off x="6492240" y="2606039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npm run test</a:t>
            </a:r>
            <a:endParaRPr/>
          </a:p>
        </p:txBody>
      </p:sp>
      <p:sp>
        <p:nvSpPr>
          <p:cNvPr id="528" name="Google Shape;528;p24"/>
          <p:cNvSpPr txBox="1"/>
          <p:nvPr/>
        </p:nvSpPr>
        <p:spPr>
          <a:xfrm>
            <a:off x="8778240" y="2606039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Unit tesztek (vitest run)</a:t>
            </a:r>
            <a:endParaRPr/>
          </a:p>
        </p:txBody>
      </p:sp>
      <p:sp>
        <p:nvSpPr>
          <p:cNvPr id="529" name="Google Shape;529;p24"/>
          <p:cNvSpPr/>
          <p:nvPr/>
        </p:nvSpPr>
        <p:spPr>
          <a:xfrm>
            <a:off x="6355079" y="3017520"/>
            <a:ext cx="5669280" cy="438912"/>
          </a:xfrm>
          <a:prstGeom prst="rect">
            <a:avLst/>
          </a:prstGeom>
          <a:solidFill>
            <a:srgbClr val="140C0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4"/>
          <p:cNvSpPr txBox="1"/>
          <p:nvPr/>
        </p:nvSpPr>
        <p:spPr>
          <a:xfrm>
            <a:off x="6492240" y="3063239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npm run test:watch</a:t>
            </a:r>
            <a:endParaRPr/>
          </a:p>
        </p:txBody>
      </p:sp>
      <p:sp>
        <p:nvSpPr>
          <p:cNvPr id="531" name="Google Shape;531;p24"/>
          <p:cNvSpPr txBox="1"/>
          <p:nvPr/>
        </p:nvSpPr>
        <p:spPr>
          <a:xfrm>
            <a:off x="8778240" y="3063239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Tesztek figyelő módban</a:t>
            </a:r>
            <a:endParaRPr/>
          </a:p>
        </p:txBody>
      </p:sp>
      <p:sp>
        <p:nvSpPr>
          <p:cNvPr id="532" name="Google Shape;532;p24"/>
          <p:cNvSpPr/>
          <p:nvPr/>
        </p:nvSpPr>
        <p:spPr>
          <a:xfrm>
            <a:off x="6355079" y="3474720"/>
            <a:ext cx="5669280" cy="438912"/>
          </a:xfrm>
          <a:prstGeom prst="rect">
            <a:avLst/>
          </a:prstGeom>
          <a:solidFill>
            <a:srgbClr val="140C0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4"/>
          <p:cNvSpPr txBox="1"/>
          <p:nvPr/>
        </p:nvSpPr>
        <p:spPr>
          <a:xfrm>
            <a:off x="6492240" y="3520439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npm run test:server</a:t>
            </a:r>
            <a:endParaRPr/>
          </a:p>
        </p:txBody>
      </p:sp>
      <p:sp>
        <p:nvSpPr>
          <p:cNvPr id="534" name="Google Shape;534;p24"/>
          <p:cNvSpPr txBox="1"/>
          <p:nvPr/>
        </p:nvSpPr>
        <p:spPr>
          <a:xfrm>
            <a:off x="8778240" y="3520439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Backend integrációs tesztek</a:t>
            </a:r>
            <a:endParaRPr/>
          </a:p>
        </p:txBody>
      </p:sp>
      <p:sp>
        <p:nvSpPr>
          <p:cNvPr id="535" name="Google Shape;535;p24"/>
          <p:cNvSpPr/>
          <p:nvPr/>
        </p:nvSpPr>
        <p:spPr>
          <a:xfrm>
            <a:off x="6355079" y="3931920"/>
            <a:ext cx="5669280" cy="438912"/>
          </a:xfrm>
          <a:prstGeom prst="rect">
            <a:avLst/>
          </a:prstGeom>
          <a:solidFill>
            <a:srgbClr val="140C0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4"/>
          <p:cNvSpPr txBox="1"/>
          <p:nvPr/>
        </p:nvSpPr>
        <p:spPr>
          <a:xfrm>
            <a:off x="6492240" y="3977639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npm run test:all</a:t>
            </a:r>
            <a:endParaRPr/>
          </a:p>
        </p:txBody>
      </p:sp>
      <p:sp>
        <p:nvSpPr>
          <p:cNvPr id="537" name="Google Shape;537;p24"/>
          <p:cNvSpPr txBox="1"/>
          <p:nvPr/>
        </p:nvSpPr>
        <p:spPr>
          <a:xfrm>
            <a:off x="8778240" y="3977639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Összes teszt egyszerre</a:t>
            </a:r>
            <a:endParaRPr/>
          </a:p>
        </p:txBody>
      </p:sp>
      <p:sp>
        <p:nvSpPr>
          <p:cNvPr id="538" name="Google Shape;538;p24"/>
          <p:cNvSpPr txBox="1"/>
          <p:nvPr/>
        </p:nvSpPr>
        <p:spPr>
          <a:xfrm>
            <a:off x="6355079" y="4572000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C48B4A"/>
                </a:solidFill>
                <a:latin typeface="Calibri"/>
                <a:ea typeface="Calibri"/>
                <a:cs typeface="Calibri"/>
                <a:sym typeface="Calibri"/>
              </a:rPr>
              <a:t>📦 Build</a:t>
            </a:r>
            <a:endParaRPr/>
          </a:p>
        </p:txBody>
      </p:sp>
      <p:sp>
        <p:nvSpPr>
          <p:cNvPr id="539" name="Google Shape;539;p24"/>
          <p:cNvSpPr/>
          <p:nvPr/>
        </p:nvSpPr>
        <p:spPr>
          <a:xfrm>
            <a:off x="6355079" y="4956048"/>
            <a:ext cx="5669280" cy="438912"/>
          </a:xfrm>
          <a:prstGeom prst="rect">
            <a:avLst/>
          </a:prstGeom>
          <a:solidFill>
            <a:srgbClr val="140C0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4"/>
          <p:cNvSpPr txBox="1"/>
          <p:nvPr/>
        </p:nvSpPr>
        <p:spPr>
          <a:xfrm>
            <a:off x="6492240" y="5001768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npm run build</a:t>
            </a:r>
            <a:endParaRPr/>
          </a:p>
        </p:txBody>
      </p:sp>
      <p:sp>
        <p:nvSpPr>
          <p:cNvPr id="541" name="Google Shape;541;p24"/>
          <p:cNvSpPr txBox="1"/>
          <p:nvPr/>
        </p:nvSpPr>
        <p:spPr>
          <a:xfrm>
            <a:off x="8778240" y="5001768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Produkciós build (Vite)</a:t>
            </a:r>
            <a:endParaRPr/>
          </a:p>
        </p:txBody>
      </p:sp>
      <p:sp>
        <p:nvSpPr>
          <p:cNvPr id="542" name="Google Shape;542;p24"/>
          <p:cNvSpPr/>
          <p:nvPr/>
        </p:nvSpPr>
        <p:spPr>
          <a:xfrm>
            <a:off x="6355079" y="5413248"/>
            <a:ext cx="5669280" cy="438912"/>
          </a:xfrm>
          <a:prstGeom prst="rect">
            <a:avLst/>
          </a:prstGeom>
          <a:solidFill>
            <a:srgbClr val="140C0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4"/>
          <p:cNvSpPr txBox="1"/>
          <p:nvPr/>
        </p:nvSpPr>
        <p:spPr>
          <a:xfrm>
            <a:off x="6492240" y="5458968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npm run preview</a:t>
            </a:r>
            <a:endParaRPr/>
          </a:p>
        </p:txBody>
      </p:sp>
      <p:sp>
        <p:nvSpPr>
          <p:cNvPr id="544" name="Google Shape;544;p24"/>
          <p:cNvSpPr txBox="1"/>
          <p:nvPr/>
        </p:nvSpPr>
        <p:spPr>
          <a:xfrm>
            <a:off x="8778240" y="5458968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Build előnézet</a:t>
            </a:r>
            <a:endParaRPr/>
          </a:p>
        </p:txBody>
      </p:sp>
      <p:sp>
        <p:nvSpPr>
          <p:cNvPr id="545" name="Google Shape;545;p24"/>
          <p:cNvSpPr/>
          <p:nvPr/>
        </p:nvSpPr>
        <p:spPr>
          <a:xfrm>
            <a:off x="6355079" y="5870448"/>
            <a:ext cx="5669280" cy="438912"/>
          </a:xfrm>
          <a:prstGeom prst="rect">
            <a:avLst/>
          </a:prstGeom>
          <a:solidFill>
            <a:srgbClr val="140C0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4"/>
          <p:cNvSpPr txBox="1"/>
          <p:nvPr/>
        </p:nvSpPr>
        <p:spPr>
          <a:xfrm>
            <a:off x="6492240" y="5916168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npm run check</a:t>
            </a:r>
            <a:endParaRPr/>
          </a:p>
        </p:txBody>
      </p:sp>
      <p:sp>
        <p:nvSpPr>
          <p:cNvPr id="547" name="Google Shape;547;p24"/>
          <p:cNvSpPr txBox="1"/>
          <p:nvPr/>
        </p:nvSpPr>
        <p:spPr>
          <a:xfrm>
            <a:off x="8778240" y="5916168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TypeScript + svelte-check</a:t>
            </a:r>
            <a:endParaRPr/>
          </a:p>
        </p:txBody>
      </p:sp>
      <p:sp>
        <p:nvSpPr>
          <p:cNvPr id="548" name="Google Shape;548;p24"/>
          <p:cNvSpPr txBox="1"/>
          <p:nvPr/>
        </p:nvSpPr>
        <p:spPr>
          <a:xfrm>
            <a:off x="320040" y="6446520"/>
            <a:ext cx="11521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🌐  Frontend: http://localhost:5173   |   🔌  Backend API: http://localhost:3000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25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E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5"/>
          <p:cNvSpPr/>
          <p:nvPr/>
        </p:nvSpPr>
        <p:spPr>
          <a:xfrm>
            <a:off x="0" y="3712464"/>
            <a:ext cx="3200400" cy="3200400"/>
          </a:xfrm>
          <a:prstGeom prst="ellipse">
            <a:avLst/>
          </a:prstGeom>
          <a:solidFill>
            <a:srgbClr val="2D1A0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5"/>
          <p:cNvSpPr/>
          <p:nvPr/>
        </p:nvSpPr>
        <p:spPr>
          <a:xfrm>
            <a:off x="9445625" y="45720"/>
            <a:ext cx="2743200" cy="2743200"/>
          </a:xfrm>
          <a:prstGeom prst="ellipse">
            <a:avLst/>
          </a:prstGeom>
          <a:solidFill>
            <a:srgbClr val="1E123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5"/>
          <p:cNvSpPr/>
          <p:nvPr/>
        </p:nvSpPr>
        <p:spPr>
          <a:xfrm>
            <a:off x="0" y="0"/>
            <a:ext cx="6094476" cy="54864"/>
          </a:xfrm>
          <a:prstGeom prst="rect">
            <a:avLst/>
          </a:prstGeom>
          <a:solidFill>
            <a:srgbClr val="EC489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5"/>
          <p:cNvSpPr/>
          <p:nvPr/>
        </p:nvSpPr>
        <p:spPr>
          <a:xfrm>
            <a:off x="6094476" y="0"/>
            <a:ext cx="6094476" cy="54864"/>
          </a:xfrm>
          <a:prstGeom prst="rect">
            <a:avLst/>
          </a:prstGeom>
          <a:solidFill>
            <a:srgbClr val="9333E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5"/>
          <p:cNvSpPr txBox="1"/>
          <p:nvPr/>
        </p:nvSpPr>
        <p:spPr>
          <a:xfrm>
            <a:off x="457200" y="164592"/>
            <a:ext cx="10972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12  Összefoglalás</a:t>
            </a:r>
            <a:endParaRPr/>
          </a:p>
        </p:txBody>
      </p:sp>
      <p:sp>
        <p:nvSpPr>
          <p:cNvPr id="559" name="Google Shape;559;p25"/>
          <p:cNvSpPr txBox="1"/>
          <p:nvPr/>
        </p:nvSpPr>
        <p:spPr>
          <a:xfrm>
            <a:off x="1005840" y="1051560"/>
            <a:ext cx="3474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Full-stack alkalmazás</a:t>
            </a:r>
            <a:endParaRPr/>
          </a:p>
        </p:txBody>
      </p:sp>
      <p:sp>
        <p:nvSpPr>
          <p:cNvPr id="560" name="Google Shape;560;p25"/>
          <p:cNvSpPr txBox="1"/>
          <p:nvPr/>
        </p:nvSpPr>
        <p:spPr>
          <a:xfrm>
            <a:off x="4572000" y="1051560"/>
            <a:ext cx="7315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SvelteKit frontend + Express.js backend + SQLite adatbázis</a:t>
            </a:r>
            <a:endParaRPr/>
          </a:p>
        </p:txBody>
      </p:sp>
      <p:sp>
        <p:nvSpPr>
          <p:cNvPr id="561" name="Google Shape;561;p25"/>
          <p:cNvSpPr txBox="1"/>
          <p:nvPr/>
        </p:nvSpPr>
        <p:spPr>
          <a:xfrm>
            <a:off x="1005840" y="1828800"/>
            <a:ext cx="3474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Teljes vásárlási folyamat</a:t>
            </a:r>
            <a:endParaRPr/>
          </a:p>
        </p:txBody>
      </p:sp>
      <p:sp>
        <p:nvSpPr>
          <p:cNvPr id="562" name="Google Shape;562;p25"/>
          <p:cNvSpPr txBox="1"/>
          <p:nvPr/>
        </p:nvSpPr>
        <p:spPr>
          <a:xfrm>
            <a:off x="4572000" y="1828800"/>
            <a:ext cx="7315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Termék kiválasztás → kosár → checkout → rendelés mentés</a:t>
            </a:r>
            <a:endParaRPr/>
          </a:p>
        </p:txBody>
      </p:sp>
      <p:sp>
        <p:nvSpPr>
          <p:cNvPr id="563" name="Google Shape;563;p25"/>
          <p:cNvSpPr txBox="1"/>
          <p:nvPr/>
        </p:nvSpPr>
        <p:spPr>
          <a:xfrm>
            <a:off x="1005840" y="2606040"/>
            <a:ext cx="3474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Admin panel</a:t>
            </a:r>
            <a:endParaRPr/>
          </a:p>
        </p:txBody>
      </p:sp>
      <p:sp>
        <p:nvSpPr>
          <p:cNvPr id="564" name="Google Shape;564;p25"/>
          <p:cNvSpPr txBox="1"/>
          <p:nvPr/>
        </p:nvSpPr>
        <p:spPr>
          <a:xfrm>
            <a:off x="4572000" y="2606040"/>
            <a:ext cx="7315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JWT autentikáció, rendelés kezelés, státusz módosítás</a:t>
            </a:r>
            <a:endParaRPr/>
          </a:p>
        </p:txBody>
      </p:sp>
      <p:sp>
        <p:nvSpPr>
          <p:cNvPr id="565" name="Google Shape;565;p25"/>
          <p:cNvSpPr txBox="1"/>
          <p:nvPr/>
        </p:nvSpPr>
        <p:spPr>
          <a:xfrm>
            <a:off x="1005840" y="3383279"/>
            <a:ext cx="3474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110+ teszt eset</a:t>
            </a:r>
            <a:endParaRPr/>
          </a:p>
        </p:txBody>
      </p:sp>
      <p:sp>
        <p:nvSpPr>
          <p:cNvPr id="566" name="Google Shape;566;p25"/>
          <p:cNvSpPr txBox="1"/>
          <p:nvPr/>
        </p:nvSpPr>
        <p:spPr>
          <a:xfrm>
            <a:off x="4572000" y="3383279"/>
            <a:ext cx="7315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Vitest unit tesztek (utils, cart, api) + backend integrációs tesztek</a:t>
            </a:r>
            <a:endParaRPr/>
          </a:p>
        </p:txBody>
      </p:sp>
      <p:sp>
        <p:nvSpPr>
          <p:cNvPr id="567" name="Google Shape;567;p25"/>
          <p:cNvSpPr txBox="1"/>
          <p:nvPr/>
        </p:nvSpPr>
        <p:spPr>
          <a:xfrm>
            <a:off x="1005840" y="4160520"/>
            <a:ext cx="3474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Glassmorphism design</a:t>
            </a:r>
            <a:endParaRPr/>
          </a:p>
        </p:txBody>
      </p:sp>
      <p:sp>
        <p:nvSpPr>
          <p:cNvPr id="568" name="Google Shape;568;p25"/>
          <p:cNvSpPr txBox="1"/>
          <p:nvPr/>
        </p:nvSpPr>
        <p:spPr>
          <a:xfrm>
            <a:off x="4572000" y="4160520"/>
            <a:ext cx="7315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Animált dekorációk, kétféle téma, reszponzív rács</a:t>
            </a:r>
            <a:endParaRPr/>
          </a:p>
        </p:txBody>
      </p:sp>
      <p:sp>
        <p:nvSpPr>
          <p:cNvPr id="569" name="Google Shape;569;p25"/>
          <p:cNvSpPr txBox="1"/>
          <p:nvPr/>
        </p:nvSpPr>
        <p:spPr>
          <a:xfrm>
            <a:off x="1005840" y="4937759"/>
            <a:ext cx="3474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5E6CB"/>
                </a:solidFill>
                <a:latin typeface="Calibri"/>
                <a:ea typeface="Calibri"/>
                <a:cs typeface="Calibri"/>
                <a:sym typeface="Calibri"/>
              </a:rPr>
              <a:t>Reaktív állapotkezelés</a:t>
            </a:r>
            <a:endParaRPr/>
          </a:p>
        </p:txBody>
      </p:sp>
      <p:sp>
        <p:nvSpPr>
          <p:cNvPr id="570" name="Google Shape;570;p25"/>
          <p:cNvSpPr txBox="1"/>
          <p:nvPr/>
        </p:nvSpPr>
        <p:spPr>
          <a:xfrm>
            <a:off x="4572000" y="4937759"/>
            <a:ext cx="7315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5E7EB"/>
                </a:solidFill>
                <a:latin typeface="Calibri"/>
                <a:ea typeface="Calibri"/>
                <a:cs typeface="Calibri"/>
                <a:sym typeface="Calibri"/>
              </a:rPr>
              <a:t>Svelte stores – automatikus DOM frissítés, localStorage perzisztencia</a:t>
            </a:r>
            <a:endParaRPr/>
          </a:p>
        </p:txBody>
      </p:sp>
      <p:sp>
        <p:nvSpPr>
          <p:cNvPr id="571" name="Google Shape;571;p25"/>
          <p:cNvSpPr/>
          <p:nvPr/>
        </p:nvSpPr>
        <p:spPr>
          <a:xfrm>
            <a:off x="0" y="6784848"/>
            <a:ext cx="6094476" cy="73152"/>
          </a:xfrm>
          <a:prstGeom prst="rect">
            <a:avLst/>
          </a:prstGeom>
          <a:solidFill>
            <a:srgbClr val="EC489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5"/>
          <p:cNvSpPr/>
          <p:nvPr/>
        </p:nvSpPr>
        <p:spPr>
          <a:xfrm>
            <a:off x="6094476" y="6784848"/>
            <a:ext cx="6094476" cy="73152"/>
          </a:xfrm>
          <a:prstGeom prst="rect">
            <a:avLst/>
          </a:prstGeom>
          <a:solidFill>
            <a:srgbClr val="9333E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5"/>
          <p:cNvSpPr txBox="1"/>
          <p:nvPr/>
        </p:nvSpPr>
        <p:spPr>
          <a:xfrm>
            <a:off x="0" y="6492240"/>
            <a:ext cx="12189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NeoCoffee Webáruház  |  2025-2026  |  </a:t>
            </a:r>
            <a:r>
              <a:rPr lang="en-US" sz="1100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Vitális Kristóf &amp; Nagy Kristóf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-téma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