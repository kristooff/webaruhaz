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2EC347-6875-4E12-B24D-60B6ED5BCF13}" type="datetimeFigureOut">
              <a:rPr lang="hu-HU" smtClean="0"/>
              <a:t>2026. 03. 12.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6F1F0-4C26-4CF1-A1B9-AC32D8C0E4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9910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26F1F0-4C26-4CF1-A1B9-AC32D8C0E493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6161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97280" y="-1097280"/>
            <a:ext cx="3657600" cy="3657600"/>
          </a:xfrm>
          <a:prstGeom prst="ellipse">
            <a:avLst/>
          </a:prstGeom>
          <a:solidFill>
            <a:srgbClr val="2D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200400" cy="3200400"/>
          </a:xfrm>
          <a:prstGeom prst="ellipse">
            <a:avLst/>
          </a:prstGeom>
          <a:solidFill>
            <a:srgbClr val="1E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094476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4476" y="0"/>
            <a:ext cx="6094476" cy="54864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371600"/>
            <a:ext cx="9966960" cy="4114800"/>
          </a:xfrm>
          <a:prstGeom prst="ellipse">
            <a:avLst/>
          </a:prstGeom>
          <a:solidFill>
            <a:srgbClr val="22140A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155448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48B4A"/>
                </a:solidFill>
              </a:rPr>
              <a:t>☕  NeoCoffee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060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E6CB"/>
                </a:solidFill>
              </a:rPr>
              <a:t>Webáruház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3375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5E7EB"/>
                </a:solidFill>
              </a:rPr>
              <a:t>Modern kávé webshop – SvelteKit · Express.js · SQLite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4160520"/>
            <a:ext cx="1508760" cy="347472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SvelteKit</a:t>
            </a:r>
          </a:p>
        </p:txBody>
      </p:sp>
      <p:sp>
        <p:nvSpPr>
          <p:cNvPr id="12" name="Oval 11"/>
          <p:cNvSpPr/>
          <p:nvPr/>
        </p:nvSpPr>
        <p:spPr>
          <a:xfrm>
            <a:off x="3520440" y="4160520"/>
            <a:ext cx="1508760" cy="347472"/>
          </a:xfrm>
          <a:prstGeom prst="ellipse">
            <a:avLst/>
          </a:prstGeom>
          <a:solidFill>
            <a:srgbClr val="3178C6"/>
          </a:solidFill>
          <a:ln>
            <a:solidFill>
              <a:srgbClr val="3178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TypeScript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4160520"/>
            <a:ext cx="1508760" cy="347472"/>
          </a:xfrm>
          <a:prstGeom prst="ellipse">
            <a:avLst/>
          </a:prstGeom>
          <a:solidFill>
            <a:srgbClr val="068F8A"/>
          </a:solidFill>
          <a:ln>
            <a:solidFill>
              <a:srgbClr val="068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Tailwind CSS</a:t>
            </a:r>
          </a:p>
        </p:txBody>
      </p:sp>
      <p:sp>
        <p:nvSpPr>
          <p:cNvPr id="14" name="Oval 13"/>
          <p:cNvSpPr/>
          <p:nvPr/>
        </p:nvSpPr>
        <p:spPr>
          <a:xfrm>
            <a:off x="6903720" y="4160520"/>
            <a:ext cx="1508760" cy="347472"/>
          </a:xfrm>
          <a:prstGeom prst="ellipse">
            <a:avLst/>
          </a:prstGeom>
          <a:solidFill>
            <a:srgbClr val="263238"/>
          </a:solidFill>
          <a:ln>
            <a:solidFill>
              <a:srgbClr val="263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Express.js</a:t>
            </a:r>
          </a:p>
        </p:txBody>
      </p:sp>
      <p:sp>
        <p:nvSpPr>
          <p:cNvPr id="15" name="Oval 14"/>
          <p:cNvSpPr/>
          <p:nvPr/>
        </p:nvSpPr>
        <p:spPr>
          <a:xfrm>
            <a:off x="8595360" y="4160520"/>
            <a:ext cx="1508760" cy="347472"/>
          </a:xfrm>
          <a:prstGeom prst="ellipse">
            <a:avLst/>
          </a:prstGeom>
          <a:solidFill>
            <a:srgbClr val="003B57"/>
          </a:solidFill>
          <a:ln>
            <a:solidFill>
              <a:srgbClr val="00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SQLite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4848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4476" y="6784848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2025-2026  |  Nagy Kristóf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E6CB"/>
                </a:solidFill>
              </a:rPr>
              <a:t>Tartalom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0789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0058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Projekt bemutatása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3533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 NeoCoffee webshop céljai és főbb jellemzői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9933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202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Funkciók áttekintése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2677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Vásárlási folyamat, kosár, pénztár, admin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9077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346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Technológiai 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1821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Frontend, backend, build és tesztelési eszközök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822191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749039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Architektúra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096511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MVCS minta, rétegek, adatfolyam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47365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6634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Adatbázis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0109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SQLite séma, táblák, indexek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56509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5778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Backend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9253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Express.js végpontok, JWT autentikáció</a:t>
            </a:r>
          </a:p>
        </p:txBody>
      </p:sp>
      <p:sp>
        <p:nvSpPr>
          <p:cNvPr id="24" name="Oval 23"/>
          <p:cNvSpPr/>
          <p:nvPr/>
        </p:nvSpPr>
        <p:spPr>
          <a:xfrm>
            <a:off x="6309360" y="10789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10058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Frontend komponensek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3533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SvelteKit útvonalak, UI komponensek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19933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19202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Állapotkezelés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2677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Svelte stores, reaktív frissítések</a:t>
            </a:r>
          </a:p>
        </p:txBody>
      </p:sp>
      <p:sp>
        <p:nvSpPr>
          <p:cNvPr id="30" name="Oval 29"/>
          <p:cNvSpPr/>
          <p:nvPr/>
        </p:nvSpPr>
        <p:spPr>
          <a:xfrm>
            <a:off x="6309360" y="29077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8346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Vizuális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1821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Glassmorphism, animációk, témarendszer</a:t>
            </a:r>
          </a:p>
        </p:txBody>
      </p:sp>
      <p:sp>
        <p:nvSpPr>
          <p:cNvPr id="33" name="Oval 32"/>
          <p:cNvSpPr/>
          <p:nvPr/>
        </p:nvSpPr>
        <p:spPr>
          <a:xfrm>
            <a:off x="6309360" y="3822191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749039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Tesztelés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096511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Vitest unit és integrációs tesztek</a:t>
            </a:r>
          </a:p>
        </p:txBody>
      </p:sp>
      <p:sp>
        <p:nvSpPr>
          <p:cNvPr id="36" name="Oval 35"/>
          <p:cNvSpPr/>
          <p:nvPr/>
        </p:nvSpPr>
        <p:spPr>
          <a:xfrm>
            <a:off x="6309360" y="47365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6634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Fejlesztési parancsok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50109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NPM szkriptek, futtatás, build</a:t>
            </a:r>
          </a:p>
        </p:txBody>
      </p:sp>
      <p:sp>
        <p:nvSpPr>
          <p:cNvPr id="39" name="Oval 38"/>
          <p:cNvSpPr/>
          <p:nvPr/>
        </p:nvSpPr>
        <p:spPr>
          <a:xfrm>
            <a:off x="6309360" y="5650992"/>
            <a:ext cx="475488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5E6CB"/>
                </a:solidFill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557784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Összefoglalás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592531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Eredmények és lehetséges fejlesztések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01  Projekt bemutatása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NeoCoffee – modern kávé webáruház glassmorphism dizájnnal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5E7EB"/>
                </a:solidFill>
              </a:rPr>
              <a:t>A NeoCoffee egy teljes körű kávé webáruház alkalmazás,</a:t>
            </a:r>
          </a:p>
          <a:p>
            <a:pPr algn="l"/>
            <a:r>
              <a:rPr sz="1500" b="0">
                <a:solidFill>
                  <a:srgbClr val="E5E7EB"/>
                </a:solidFill>
              </a:rPr>
              <a:t>amelyet SvelteKit frontend és Express.js backend épít fel.</a:t>
            </a:r>
          </a:p>
          <a:p>
            <a:pPr algn="l"/>
            <a:endParaRPr sz="1500" b="0">
              <a:solidFill>
                <a:srgbClr val="E5E7EB"/>
              </a:solidFill>
            </a:endParaRPr>
          </a:p>
          <a:p>
            <a:pPr algn="l"/>
            <a:r>
              <a:rPr sz="1500" b="0">
                <a:solidFill>
                  <a:srgbClr val="E5E7EB"/>
                </a:solidFill>
              </a:rPr>
              <a:t>A vásárlók 6 különböző kávét rendelhetnek testreszabható</a:t>
            </a:r>
          </a:p>
          <a:p>
            <a:pPr algn="l"/>
            <a:r>
              <a:rPr sz="1500" b="0">
                <a:solidFill>
                  <a:srgbClr val="E5E7EB"/>
                </a:solidFill>
              </a:rPr>
              <a:t>opciókkal (tej típus, cukor mennyiség), majd online adják</a:t>
            </a:r>
          </a:p>
          <a:p>
            <a:pPr algn="l"/>
            <a:r>
              <a:rPr sz="1500" b="0">
                <a:solidFill>
                  <a:srgbClr val="E5E7EB"/>
                </a:solidFill>
              </a:rPr>
              <a:t>le rendeléseiket – amit az admin felületen kezelnek.</a:t>
            </a:r>
          </a:p>
          <a:p>
            <a:pPr algn="l"/>
            <a:endParaRPr sz="1500" b="0">
              <a:solidFill>
                <a:srgbClr val="E5E7EB"/>
              </a:solidFill>
            </a:endParaRPr>
          </a:p>
          <a:p>
            <a:pPr algn="l"/>
            <a:r>
              <a:rPr sz="1500" b="0">
                <a:solidFill>
                  <a:srgbClr val="E5E7EB"/>
                </a:solidFill>
              </a:rPr>
              <a:t>Különlegesség: a cégünk speciális pohár technológiája</a:t>
            </a:r>
          </a:p>
          <a:p>
            <a:pPr algn="l"/>
            <a:r>
              <a:rPr sz="1500" b="0">
                <a:solidFill>
                  <a:srgbClr val="E5E7EB"/>
                </a:solidFill>
              </a:rPr>
              <a:t>8 órán át melegen tartja a kávét!</a:t>
            </a:r>
          </a:p>
        </p:txBody>
      </p:sp>
      <p:sp>
        <p:nvSpPr>
          <p:cNvPr id="8" name="Oval 7"/>
          <p:cNvSpPr/>
          <p:nvPr/>
        </p:nvSpPr>
        <p:spPr>
          <a:xfrm>
            <a:off x="7315200" y="2194560"/>
            <a:ext cx="4297680" cy="804672"/>
          </a:xfrm>
          <a:prstGeom prst="ellipse">
            <a:avLst/>
          </a:prstGeom>
          <a:solidFill>
            <a:srgbClr val="22140A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2240279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C48B4A"/>
                </a:solidFill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3957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5E6CB"/>
                </a:solidFill>
              </a:rPr>
              <a:t>Kávétermék</a:t>
            </a:r>
            <a:endParaRPr sz="1400" b="0" i="0" dirty="0">
              <a:solidFill>
                <a:srgbClr val="F5E6CB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7315200" y="3200400"/>
            <a:ext cx="4297680" cy="804672"/>
          </a:xfrm>
          <a:prstGeom prst="ellipse">
            <a:avLst/>
          </a:prstGeom>
          <a:solidFill>
            <a:srgbClr val="22140A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C48B4A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4015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5E6CB"/>
                </a:solidFill>
              </a:rPr>
              <a:t>Tej</a:t>
            </a:r>
            <a:r>
              <a:rPr sz="1400" b="0" i="0" dirty="0">
                <a:solidFill>
                  <a:srgbClr val="F5E6CB"/>
                </a:solidFill>
              </a:rPr>
              <a:t> </a:t>
            </a:r>
            <a:r>
              <a:rPr sz="1400" b="0" i="0" dirty="0" err="1">
                <a:solidFill>
                  <a:srgbClr val="F5E6CB"/>
                </a:solidFill>
              </a:rPr>
              <a:t>opció</a:t>
            </a:r>
            <a:endParaRPr sz="1400" b="0" i="0" dirty="0">
              <a:solidFill>
                <a:srgbClr val="F5E6CB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7315200" y="4206240"/>
            <a:ext cx="4297680" cy="804672"/>
          </a:xfrm>
          <a:prstGeom prst="ellipse">
            <a:avLst/>
          </a:prstGeom>
          <a:solidFill>
            <a:srgbClr val="22140A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4251959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C48B4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4407407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5E6CB"/>
                </a:solidFill>
              </a:rPr>
              <a:t>Főoldal</a:t>
            </a:r>
            <a:r>
              <a:rPr sz="1400" b="0" i="0" dirty="0">
                <a:solidFill>
                  <a:srgbClr val="F5E6CB"/>
                </a:solidFill>
              </a:rPr>
              <a:t> route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0" y="5212080"/>
            <a:ext cx="4297680" cy="804672"/>
          </a:xfrm>
          <a:prstGeom prst="ellipse">
            <a:avLst/>
          </a:prstGeom>
          <a:solidFill>
            <a:srgbClr val="22140A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6919" y="534924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 dirty="0">
                <a:solidFill>
                  <a:srgbClr val="C48B4A"/>
                </a:solidFill>
              </a:rPr>
              <a:t>110+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2759" y="5440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5E6CB"/>
                </a:solidFill>
              </a:rPr>
              <a:t>Teszt</a:t>
            </a:r>
            <a:r>
              <a:rPr sz="1400" b="0" i="0" dirty="0">
                <a:solidFill>
                  <a:srgbClr val="F5E6CB"/>
                </a:solidFill>
              </a:rPr>
              <a:t> </a:t>
            </a:r>
            <a:r>
              <a:rPr sz="1400" b="0" i="0" dirty="0" err="1">
                <a:solidFill>
                  <a:srgbClr val="F5E6CB"/>
                </a:solidFill>
              </a:rPr>
              <a:t>eset</a:t>
            </a:r>
            <a:endParaRPr sz="1400" b="0" i="0" dirty="0">
              <a:solidFill>
                <a:srgbClr val="F5E6C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02  Funkciók áttekintése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A webáruház főbb funkcionális területei</a:t>
            </a:r>
          </a:p>
        </p:txBody>
      </p:sp>
      <p:sp>
        <p:nvSpPr>
          <p:cNvPr id="7" name="Oval 6"/>
          <p:cNvSpPr/>
          <p:nvPr/>
        </p:nvSpPr>
        <p:spPr>
          <a:xfrm>
            <a:off x="320040" y="2148840"/>
            <a:ext cx="2697480" cy="4206240"/>
          </a:xfrm>
          <a:prstGeom prst="ellipse">
            <a:avLst/>
          </a:prstGeom>
          <a:solidFill>
            <a:srgbClr val="150D06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2240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E6CB"/>
                </a:solidFill>
              </a:rPr>
              <a:t>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6974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8B4A"/>
                </a:solidFill>
              </a:rPr>
              <a:t>Termékek &amp; Kosár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</a:rPr>
              <a:t>• 6 kávé termék (Cappuccino, Espresso, Ristretto,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  Latte, Americano, Doppio)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Ár: 650–900 Ft / termék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Tej típus: Mandula / Tehén / Zab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Cukor: Nincs / 1 kanál / 2 kanál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Mennyiség szabályozás (+/–)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Valós idejű végösszeg</a:t>
            </a:r>
          </a:p>
        </p:txBody>
      </p:sp>
      <p:sp>
        <p:nvSpPr>
          <p:cNvPr id="11" name="Oval 10"/>
          <p:cNvSpPr/>
          <p:nvPr/>
        </p:nvSpPr>
        <p:spPr>
          <a:xfrm>
            <a:off x="3291840" y="2148840"/>
            <a:ext cx="2697480" cy="4206240"/>
          </a:xfrm>
          <a:prstGeom prst="ellipse">
            <a:avLst/>
          </a:prstGeom>
          <a:solidFill>
            <a:srgbClr val="150D06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240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E6CB"/>
                </a:solidFill>
              </a:rPr>
              <a:t>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974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8B4A"/>
                </a:solidFill>
              </a:rPr>
              <a:t>Pénztár (Checkout)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15468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</a:rPr>
              <a:t>• Rendelési űrlap validációval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Mezők: név, email, telefon,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  irányítószám, település, cím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Rendelés összesítő oldalsáv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Automatikus kosár ürítés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Visszairányítás főoldalra</a:t>
            </a:r>
          </a:p>
        </p:txBody>
      </p:sp>
      <p:sp>
        <p:nvSpPr>
          <p:cNvPr id="15" name="Oval 14"/>
          <p:cNvSpPr/>
          <p:nvPr/>
        </p:nvSpPr>
        <p:spPr>
          <a:xfrm>
            <a:off x="6263640" y="2148840"/>
            <a:ext cx="2697480" cy="4206240"/>
          </a:xfrm>
          <a:prstGeom prst="ellipse">
            <a:avLst/>
          </a:prstGeom>
          <a:solidFill>
            <a:srgbClr val="150D06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79" y="2240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E6CB"/>
                </a:solidFill>
              </a:rPr>
              <a:t>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79" y="26974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8B4A"/>
                </a:solidFill>
              </a:rPr>
              <a:t>Admin Felület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5468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</a:rPr>
              <a:t>• JWT token alapú belépés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  (admin / Minad123!)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Rendelések táblázatos listája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Vevő adatok megtekintése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Postázás státusz kezelés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Rendelés részletek modal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Rendelés törlés</a:t>
            </a:r>
          </a:p>
        </p:txBody>
      </p:sp>
      <p:sp>
        <p:nvSpPr>
          <p:cNvPr id="19" name="Oval 18"/>
          <p:cNvSpPr/>
          <p:nvPr/>
        </p:nvSpPr>
        <p:spPr>
          <a:xfrm>
            <a:off x="9235440" y="2148840"/>
            <a:ext cx="2697480" cy="4206240"/>
          </a:xfrm>
          <a:prstGeom prst="ellipse">
            <a:avLst/>
          </a:prstGeom>
          <a:solidFill>
            <a:srgbClr val="150D06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22402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E6CB"/>
                </a:solidFill>
              </a:rPr>
              <a:t>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974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8B4A"/>
                </a:solidFill>
              </a:rPr>
              <a:t>Téma Rendszer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154680"/>
            <a:ext cx="2423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</a:rPr>
              <a:t>• Világos ↔ Sötét mód váltás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localStorage mentés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700ms smooth átmenet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• Dekorációk: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  ☀ Felhők + nap (light)</a:t>
            </a:r>
          </a:p>
          <a:p>
            <a:pPr algn="l"/>
            <a:r>
              <a:rPr sz="1100" b="0">
                <a:solidFill>
                  <a:srgbClr val="E5E7EB"/>
                </a:solidFill>
              </a:rPr>
              <a:t>  ★ Csillagok + hold (dark)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03  Technológiai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A projekt által felhasznált főbb technológiák</a:t>
            </a:r>
          </a:p>
        </p:txBody>
      </p:sp>
      <p:sp>
        <p:nvSpPr>
          <p:cNvPr id="7" name="Oval 6"/>
          <p:cNvSpPr/>
          <p:nvPr/>
        </p:nvSpPr>
        <p:spPr>
          <a:xfrm>
            <a:off x="320040" y="2148840"/>
            <a:ext cx="3703320" cy="475488"/>
          </a:xfrm>
          <a:prstGeom prst="ellipse">
            <a:avLst/>
          </a:prstGeom>
          <a:solidFill>
            <a:srgbClr val="7B4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2176272"/>
            <a:ext cx="3520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43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SvelteKit 2.49.1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17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Meta-framework (SSR, routing, build)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649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Svelte 5.45.6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3931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Reaktív komponens framework (Runes 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9867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Tailwind CSS 4.1.17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6110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Utility-first CSS framework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0857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shadcn-svelte 1.1.0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Újrafelhasználható UI komponensek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TypeScript 5.9.3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0468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Statikus típusellenőrzés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5216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@lucide/svelte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2648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Ikon könyvtár</a:t>
            </a:r>
          </a:p>
        </p:txBody>
      </p:sp>
      <p:sp>
        <p:nvSpPr>
          <p:cNvPr id="21" name="Oval 20"/>
          <p:cNvSpPr/>
          <p:nvPr/>
        </p:nvSpPr>
        <p:spPr>
          <a:xfrm>
            <a:off x="4206240" y="2148840"/>
            <a:ext cx="3703320" cy="475488"/>
          </a:xfrm>
          <a:prstGeom prst="ellipse">
            <a:avLst/>
          </a:prstGeom>
          <a:solidFill>
            <a:srgbClr val="00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79" y="2176272"/>
            <a:ext cx="3520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743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Express.js 4.22.1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017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REST API szerver (Node.js)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3649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better-sqlite3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3931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Szinkron SQLite driver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9867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bcrypt 5.1.1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26110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Jelszó hash-elés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60857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jsonwebtoken 9.0.3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JWT token autentikáció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230368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cors 2.8.5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550468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Cross-Origin Resource Sharing</a:t>
            </a:r>
          </a:p>
        </p:txBody>
      </p:sp>
      <p:sp>
        <p:nvSpPr>
          <p:cNvPr id="33" name="Oval 32"/>
          <p:cNvSpPr/>
          <p:nvPr/>
        </p:nvSpPr>
        <p:spPr>
          <a:xfrm>
            <a:off x="8092440" y="2148840"/>
            <a:ext cx="3703320" cy="475488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79" y="2176272"/>
            <a:ext cx="35204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Build &amp; 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2743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Vite 7.2.6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301752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Gyors build tool és dev szerver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33649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Vitest 4.0.18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9" y="363931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Unit és integrációs tesztelés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39867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concurrently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26110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Frontend + backend párhuzamos futtatás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19" y="460857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jsdom 27.4.0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19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DOM szimuláció tesztekhez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04  Architektúra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MVCS (Model-View-Controller-Store) minta – módosított változat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48840"/>
            <a:ext cx="6858000" cy="749808"/>
          </a:xfrm>
          <a:prstGeom prst="ellipse">
            <a:avLst/>
          </a:prstGeom>
          <a:solidFill>
            <a:srgbClr val="4E2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33629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VIEW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2860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E6CB"/>
                </a:solidFill>
              </a:rPr>
              <a:t>Svelte komponensek – UI renderelés, user interakciók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62072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48B4A"/>
                </a:solidFill>
              </a:rPr>
              <a:t>▼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044952"/>
            <a:ext cx="6858000" cy="749808"/>
          </a:xfrm>
          <a:prstGeom prst="ellipse">
            <a:avLst/>
          </a:prstGeom>
          <a:solidFill>
            <a:srgbClr val="7B4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23240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</a:rPr>
              <a:t>STORE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18211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E6CB"/>
                </a:solidFill>
              </a:rPr>
              <a:t>Svelte stores – reaktív állapot, derived értékek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758184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48B4A"/>
                </a:solidFill>
              </a:rPr>
              <a:t>▼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941064"/>
            <a:ext cx="6858000" cy="749808"/>
          </a:xfrm>
          <a:prstGeom prst="ellipse">
            <a:avLst/>
          </a:prstGeom>
          <a:solidFill>
            <a:srgbClr val="A06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13039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</a:rPr>
              <a:t>LOGIC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078224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E6CB"/>
                </a:solidFill>
              </a:rPr>
              <a:t>cart.ts, theme.ts – üzleti logika, side-effects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54296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48B4A"/>
                </a:solidFill>
              </a:rPr>
              <a:t>▼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837176"/>
            <a:ext cx="6858000" cy="749808"/>
          </a:xfrm>
          <a:prstGeom prst="ellipse">
            <a:avLst/>
          </a:prstGeom>
          <a:solidFill>
            <a:srgbClr val="C48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029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</a:rPr>
              <a:t>MODEL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97433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E6CB"/>
                </a:solidFill>
              </a:rPr>
              <a:t>types.ts, products.ts – adatstruktúrák, típusok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14884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48B4A"/>
                </a:solidFill>
              </a:rPr>
              <a:t>Adatfolyam – kosár példán:</a:t>
            </a:r>
          </a:p>
          <a:p>
            <a:pPr algn="l"/>
            <a:endParaRPr sz="1300" b="0">
              <a:solidFill>
                <a:srgbClr val="C48B4A"/>
              </a:solidFill>
            </a:endParaRPr>
          </a:p>
          <a:p>
            <a:pPr algn="l"/>
            <a:r>
              <a:rPr sz="1300" b="0">
                <a:solidFill>
                  <a:srgbClr val="E5E7EB"/>
                </a:solidFill>
              </a:rPr>
              <a:t>1. Felhasználó beállítja tej/cukor/mennyiség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2. ProductCard meghívja handleAddToCart()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3. addToCart() létrehoz egy CartItem objektumot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4. cartItems.update() → store frissül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5. cartTotal derived store újraszámít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6. Svelte automatikusan frissíti a DOM-ot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7. A végösszeg azonnal megjelenik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05  Adatbázis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SQLite 3 – könnyűsúlyú, fájl alapú relációs adatbázis</a:t>
            </a:r>
          </a:p>
        </p:txBody>
      </p:sp>
      <p:sp>
        <p:nvSpPr>
          <p:cNvPr id="7" name="Oval 6"/>
          <p:cNvSpPr/>
          <p:nvPr/>
        </p:nvSpPr>
        <p:spPr>
          <a:xfrm>
            <a:off x="320040" y="2148840"/>
            <a:ext cx="2743200" cy="457200"/>
          </a:xfrm>
          <a:prstGeom prst="ellipse">
            <a:avLst/>
          </a:prstGeom>
          <a:solidFill>
            <a:srgbClr val="4E27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termekek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2761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id  TEXT  PK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32918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nev  TEXT  NOT NULL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79" y="3822191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ar  INTEGER  NOT NULL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79" y="435254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kep_url  TEXT</a:t>
            </a:r>
          </a:p>
        </p:txBody>
      </p:sp>
      <p:sp>
        <p:nvSpPr>
          <p:cNvPr id="17" name="Oval 16"/>
          <p:cNvSpPr/>
          <p:nvPr/>
        </p:nvSpPr>
        <p:spPr>
          <a:xfrm>
            <a:off x="3337560" y="2148840"/>
            <a:ext cx="2743200" cy="457200"/>
          </a:xfrm>
          <a:prstGeom prst="ellipse">
            <a:avLst/>
          </a:prstGeom>
          <a:solidFill>
            <a:srgbClr val="1E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9000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rendelesek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2761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id  TEXT  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29000" y="32918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vevo_nev / email / telefon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29000" y="3822191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iranyitoszam / telepules / utca_hazszam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29000" y="435254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megrendelve  TIMESTAMP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4837176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29000" y="4882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postazva  INTEGER  (0/1)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7560" y="5367528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29000" y="541324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postazva_datum  TEXT</a:t>
            </a:r>
          </a:p>
        </p:txBody>
      </p:sp>
      <p:sp>
        <p:nvSpPr>
          <p:cNvPr id="31" name="Oval 30"/>
          <p:cNvSpPr/>
          <p:nvPr/>
        </p:nvSpPr>
        <p:spPr>
          <a:xfrm>
            <a:off x="6355080" y="2148840"/>
            <a:ext cx="2743200" cy="457200"/>
          </a:xfrm>
          <a:prstGeom prst="ellipse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rendeles_tetelek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46520" y="2761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id  TEXT  PK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32918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rendeles_id  FK → rendelesek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46520" y="3822191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termek_nev / termek_ar  (snapshot)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46520" y="435254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mennyiseg  INTEGER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4837176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4882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tej / cukor  TEXT</a:t>
            </a:r>
          </a:p>
        </p:txBody>
      </p:sp>
      <p:sp>
        <p:nvSpPr>
          <p:cNvPr id="43" name="Oval 42"/>
          <p:cNvSpPr/>
          <p:nvPr/>
        </p:nvSpPr>
        <p:spPr>
          <a:xfrm>
            <a:off x="9326880" y="2148840"/>
            <a:ext cx="2743200" cy="457200"/>
          </a:xfrm>
          <a:prstGeom prst="ellipse">
            <a:avLst/>
          </a:prstGeom>
          <a:solidFill>
            <a:srgbClr val="3B1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418319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326880" y="2715768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418319" y="27614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id  TEXT  PK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246120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418319" y="32918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felhasznalonev  TEXT  UNIQUE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880" y="3776472"/>
            <a:ext cx="2743200" cy="475488"/>
          </a:xfrm>
          <a:prstGeom prst="rect">
            <a:avLst/>
          </a:prstGeom>
          <a:solidFill>
            <a:srgbClr val="120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18319" y="3822191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jelszo_hash  TEXT  (bcrypt)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26880" y="4306824"/>
            <a:ext cx="2743200" cy="4754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18319" y="435254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letrehozva  TIMESTAMP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03504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ON DELETE CASCADE: rendeles_tetelek törlődnek a rendeléssel együtt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38251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Snapshot árazás: az ár a rendeléskor rögzített érték, árváltozástól független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06  Backend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Express.js REST API – JWT autentikáció, CORS, SQLite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176272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65760" y="2194560"/>
            <a:ext cx="777240" cy="27432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1284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/api/products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128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5E7EB"/>
                </a:solidFill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21284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Összes termék listája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05456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65760" y="2523744"/>
            <a:ext cx="777240" cy="27432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420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/api/products/:id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420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5E7EB"/>
                </a:solidFill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54203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Egy termék részletei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834639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365760" y="2852927"/>
            <a:ext cx="777240" cy="274320"/>
          </a:xfrm>
          <a:prstGeom prst="ellipse">
            <a:avLst/>
          </a:prstGeom>
          <a:solidFill>
            <a:srgbClr val="3178C6"/>
          </a:solidFill>
          <a:ln>
            <a:solidFill>
              <a:srgbClr val="3178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871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71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871215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Új termék létrehozása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63824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365760" y="3182112"/>
            <a:ext cx="777240" cy="274320"/>
          </a:xfrm>
          <a:prstGeom prst="ellipse">
            <a:avLst/>
          </a:prstGeom>
          <a:solidFill>
            <a:srgbClr val="D97A06"/>
          </a:solidFill>
          <a:ln>
            <a:solidFill>
              <a:srgbClr val="D97A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200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/api/products/:id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00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20040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Termék módosítása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493008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5760" y="3511296"/>
            <a:ext cx="777240" cy="274320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DELETE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52958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/api/products/:id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5295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Admin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529584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Termék törlése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822191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65760" y="3840479"/>
            <a:ext cx="777240" cy="274320"/>
          </a:xfrm>
          <a:prstGeom prst="ellipse">
            <a:avLst/>
          </a:prstGeom>
          <a:solidFill>
            <a:srgbClr val="3178C6"/>
          </a:solidFill>
          <a:ln>
            <a:solidFill>
              <a:srgbClr val="3178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/api/orders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8587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5E7EB"/>
                </a:solidFill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85876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Új rendelés (publikus)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151376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5760" y="4169663"/>
            <a:ext cx="777240" cy="27432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418795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/api/orders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87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Admin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18795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Rendelések listája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480560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65760" y="4498848"/>
            <a:ext cx="777240" cy="27432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34440" y="45171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/api/orders/:id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517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Admin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1713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Rendelés részletei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809744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365760" y="4828031"/>
            <a:ext cx="777240" cy="27432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PATCH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34440" y="48463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/api/orders/:id/ship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4846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Admin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484632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Postázás státusz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138927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65760" y="5157215"/>
            <a:ext cx="777240" cy="274320"/>
          </a:xfrm>
          <a:prstGeom prst="ellipse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DELETE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4440" y="51755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/api/orders/:id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51755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C107"/>
                </a:solidFill>
              </a:rPr>
              <a:t>Admin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5175503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Rendelés törlése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468112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365760" y="5486399"/>
            <a:ext cx="777240" cy="274320"/>
          </a:xfrm>
          <a:prstGeom prst="ellipse">
            <a:avLst/>
          </a:prstGeom>
          <a:solidFill>
            <a:srgbClr val="3178C6"/>
          </a:solidFill>
          <a:ln>
            <a:solidFill>
              <a:srgbClr val="3178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4440" y="55046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/api/admin/login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55046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5E7EB"/>
                </a:solidFill>
              </a:rPr>
              <a:t>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77840" y="550468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Bejelentkezés → JWT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5797296"/>
            <a:ext cx="11521440" cy="310896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365760" y="5815583"/>
            <a:ext cx="777240" cy="274320"/>
          </a:xfrm>
          <a:prstGeom prst="ellipse">
            <a:avLst/>
          </a:prstGeom>
          <a:solidFill>
            <a:srgbClr val="3178C6"/>
          </a:solidFill>
          <a:ln>
            <a:solidFill>
              <a:srgbClr val="3178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34440" y="58338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/api/admin/logout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58338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5E7EB"/>
                </a:solidFill>
              </a:rPr>
              <a:t>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77840" y="583387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Kijelentkezés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6126480"/>
            <a:ext cx="11521440" cy="310896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365760" y="6144768"/>
            <a:ext cx="777240" cy="274320"/>
          </a:xfrm>
          <a:prstGeom prst="ellipse">
            <a:avLst/>
          </a:prstGeom>
          <a:solidFill>
            <a:srgbClr val="228B22"/>
          </a:solidFill>
          <a:ln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34440" y="616305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E6CB"/>
                </a:solidFill>
              </a:rPr>
              <a:t>/api/admin/verify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61630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5E7EB"/>
                </a:solidFill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616305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Token ellenőrzés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07  Frontend komponensek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SvelteKit útvonalak és komponens hierarchia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6670" y="2252472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E5E7EB"/>
                </a:solidFill>
              </a:rPr>
              <a:t>📁  </a:t>
            </a:r>
            <a:r>
              <a:rPr sz="1100" b="0" dirty="0" err="1">
                <a:solidFill>
                  <a:srgbClr val="E5E7EB"/>
                </a:solidFill>
              </a:rPr>
              <a:t>src</a:t>
            </a:r>
            <a:r>
              <a:rPr sz="1100" b="0" dirty="0">
                <a:solidFill>
                  <a:srgbClr val="E5E7EB"/>
                </a:solidFill>
              </a:rPr>
              <a:t>/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📁  routes/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+</a:t>
            </a:r>
            <a:r>
              <a:rPr sz="1100" b="0" dirty="0" err="1">
                <a:solidFill>
                  <a:srgbClr val="E5E7EB"/>
                </a:solidFill>
              </a:rPr>
              <a:t>layout.svelte</a:t>
            </a:r>
            <a:r>
              <a:rPr sz="1100" b="0" dirty="0">
                <a:solidFill>
                  <a:srgbClr val="E5E7EB"/>
                </a:solidFill>
              </a:rPr>
              <a:t>       ← </a:t>
            </a:r>
            <a:r>
              <a:rPr sz="1100" b="0" dirty="0" err="1">
                <a:solidFill>
                  <a:srgbClr val="E5E7EB"/>
                </a:solidFill>
              </a:rPr>
              <a:t>Gyökér</a:t>
            </a:r>
            <a:r>
              <a:rPr sz="1100" b="0" dirty="0">
                <a:solidFill>
                  <a:srgbClr val="E5E7EB"/>
                </a:solidFill>
              </a:rPr>
              <a:t> layout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+</a:t>
            </a:r>
            <a:r>
              <a:rPr sz="1100" b="0" dirty="0" err="1">
                <a:solidFill>
                  <a:srgbClr val="E5E7EB"/>
                </a:solidFill>
              </a:rPr>
              <a:t>page.svelte</a:t>
            </a:r>
            <a:r>
              <a:rPr sz="1100" b="0" dirty="0">
                <a:solidFill>
                  <a:srgbClr val="E5E7EB"/>
                </a:solidFill>
              </a:rPr>
              <a:t>         ← </a:t>
            </a:r>
            <a:r>
              <a:rPr sz="1100" b="0" dirty="0" err="1">
                <a:solidFill>
                  <a:srgbClr val="E5E7EB"/>
                </a:solidFill>
              </a:rPr>
              <a:t>Főoldal</a:t>
            </a:r>
            <a:r>
              <a:rPr sz="1100" b="0" dirty="0">
                <a:solidFill>
                  <a:srgbClr val="E5E7EB"/>
                </a:solidFill>
              </a:rPr>
              <a:t> (</a:t>
            </a:r>
            <a:r>
              <a:rPr sz="1100" b="0" dirty="0" err="1">
                <a:solidFill>
                  <a:srgbClr val="E5E7EB"/>
                </a:solidFill>
              </a:rPr>
              <a:t>termékek</a:t>
            </a:r>
            <a:r>
              <a:rPr sz="1100" b="0" dirty="0">
                <a:solidFill>
                  <a:srgbClr val="E5E7EB"/>
                </a:solidFill>
              </a:rPr>
              <a:t>, </a:t>
            </a:r>
            <a:r>
              <a:rPr sz="1100" b="0" dirty="0" err="1">
                <a:solidFill>
                  <a:srgbClr val="E5E7EB"/>
                </a:solidFill>
              </a:rPr>
              <a:t>kosár</a:t>
            </a:r>
            <a:r>
              <a:rPr sz="1100" b="0" dirty="0">
                <a:solidFill>
                  <a:srgbClr val="E5E7EB"/>
                </a:solidFill>
              </a:rPr>
              <a:t>)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📁  checkout/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  📄  +</a:t>
            </a:r>
            <a:r>
              <a:rPr sz="1100" b="0" dirty="0" err="1">
                <a:solidFill>
                  <a:srgbClr val="E5E7EB"/>
                </a:solidFill>
              </a:rPr>
              <a:t>page.svelte</a:t>
            </a:r>
            <a:r>
              <a:rPr sz="1100" b="0" dirty="0">
                <a:solidFill>
                  <a:srgbClr val="E5E7EB"/>
                </a:solidFill>
              </a:rPr>
              <a:t>      ← </a:t>
            </a:r>
            <a:r>
              <a:rPr sz="1100" b="0" dirty="0" err="1">
                <a:solidFill>
                  <a:srgbClr val="E5E7EB"/>
                </a:solidFill>
              </a:rPr>
              <a:t>Rendelési</a:t>
            </a:r>
            <a:r>
              <a:rPr sz="1100" b="0" dirty="0">
                <a:solidFill>
                  <a:srgbClr val="E5E7EB"/>
                </a:solidFill>
              </a:rPr>
              <a:t> </a:t>
            </a:r>
            <a:r>
              <a:rPr sz="1100" b="0" dirty="0" err="1">
                <a:solidFill>
                  <a:srgbClr val="E5E7EB"/>
                </a:solidFill>
              </a:rPr>
              <a:t>űrlap</a:t>
            </a:r>
            <a:endParaRPr sz="1100" b="0" dirty="0">
              <a:solidFill>
                <a:srgbClr val="E5E7EB"/>
              </a:solidFill>
            </a:endParaRP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📁  admin/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  📄  +</a:t>
            </a:r>
            <a:r>
              <a:rPr sz="1100" b="0" dirty="0" err="1">
                <a:solidFill>
                  <a:srgbClr val="E5E7EB"/>
                </a:solidFill>
              </a:rPr>
              <a:t>page.svelte</a:t>
            </a:r>
            <a:r>
              <a:rPr sz="1100" b="0" dirty="0">
                <a:solidFill>
                  <a:srgbClr val="E5E7EB"/>
                </a:solidFill>
              </a:rPr>
              <a:t>      ← Admin panel (JWT </a:t>
            </a:r>
            <a:r>
              <a:rPr sz="1100" b="0" dirty="0" err="1">
                <a:solidFill>
                  <a:srgbClr val="E5E7EB"/>
                </a:solidFill>
              </a:rPr>
              <a:t>védett</a:t>
            </a:r>
            <a:r>
              <a:rPr sz="1100" b="0" dirty="0">
                <a:solidFill>
                  <a:srgbClr val="E5E7EB"/>
                </a:solidFill>
              </a:rPr>
              <a:t>)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📁  lib/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</a:t>
            </a:r>
            <a:r>
              <a:rPr sz="1100" b="0" dirty="0" err="1">
                <a:solidFill>
                  <a:srgbClr val="E5E7EB"/>
                </a:solidFill>
              </a:rPr>
              <a:t>api.ts</a:t>
            </a:r>
            <a:r>
              <a:rPr sz="1100" b="0" dirty="0">
                <a:solidFill>
                  <a:srgbClr val="E5E7EB"/>
                </a:solidFill>
              </a:rPr>
              <a:t>               ← HTTP </a:t>
            </a:r>
            <a:r>
              <a:rPr sz="1100" b="0" dirty="0" err="1">
                <a:solidFill>
                  <a:srgbClr val="E5E7EB"/>
                </a:solidFill>
              </a:rPr>
              <a:t>kliens</a:t>
            </a:r>
            <a:r>
              <a:rPr sz="1100" b="0" dirty="0">
                <a:solidFill>
                  <a:srgbClr val="E5E7EB"/>
                </a:solidFill>
              </a:rPr>
              <a:t> (token </a:t>
            </a:r>
            <a:r>
              <a:rPr sz="1100" b="0" dirty="0" err="1">
                <a:solidFill>
                  <a:srgbClr val="E5E7EB"/>
                </a:solidFill>
              </a:rPr>
              <a:t>kezelés</a:t>
            </a:r>
            <a:r>
              <a:rPr sz="1100" b="0" dirty="0">
                <a:solidFill>
                  <a:srgbClr val="E5E7EB"/>
                </a:solidFill>
              </a:rPr>
              <a:t>)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</a:t>
            </a:r>
            <a:r>
              <a:rPr sz="1100" b="0" dirty="0" err="1">
                <a:solidFill>
                  <a:srgbClr val="E5E7EB"/>
                </a:solidFill>
              </a:rPr>
              <a:t>cart.ts</a:t>
            </a:r>
            <a:r>
              <a:rPr sz="1100" b="0" dirty="0">
                <a:solidFill>
                  <a:srgbClr val="E5E7EB"/>
                </a:solidFill>
              </a:rPr>
              <a:t>              ← </a:t>
            </a:r>
            <a:r>
              <a:rPr sz="1100" b="0" dirty="0" err="1">
                <a:solidFill>
                  <a:srgbClr val="E5E7EB"/>
                </a:solidFill>
              </a:rPr>
              <a:t>Kosár</a:t>
            </a:r>
            <a:r>
              <a:rPr sz="1100" b="0" dirty="0">
                <a:solidFill>
                  <a:srgbClr val="E5E7EB"/>
                </a:solidFill>
              </a:rPr>
              <a:t> store + </a:t>
            </a:r>
            <a:r>
              <a:rPr sz="1100" b="0" dirty="0" err="1">
                <a:solidFill>
                  <a:srgbClr val="E5E7EB"/>
                </a:solidFill>
              </a:rPr>
              <a:t>addToCart</a:t>
            </a:r>
            <a:r>
              <a:rPr sz="1100" b="0" dirty="0">
                <a:solidFill>
                  <a:srgbClr val="E5E7EB"/>
                </a:solidFill>
              </a:rPr>
              <a:t>()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</a:t>
            </a:r>
            <a:r>
              <a:rPr sz="1100" b="0" dirty="0" err="1">
                <a:solidFill>
                  <a:srgbClr val="E5E7EB"/>
                </a:solidFill>
              </a:rPr>
              <a:t>orders.ts</a:t>
            </a:r>
            <a:r>
              <a:rPr sz="1100" b="0" dirty="0">
                <a:solidFill>
                  <a:srgbClr val="E5E7EB"/>
                </a:solidFill>
              </a:rPr>
              <a:t>            ← </a:t>
            </a:r>
            <a:r>
              <a:rPr sz="1100" b="0" dirty="0" err="1">
                <a:solidFill>
                  <a:srgbClr val="E5E7EB"/>
                </a:solidFill>
              </a:rPr>
              <a:t>Rendelések</a:t>
            </a:r>
            <a:r>
              <a:rPr sz="1100" b="0" dirty="0">
                <a:solidFill>
                  <a:srgbClr val="E5E7EB"/>
                </a:solidFill>
              </a:rPr>
              <a:t> store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</a:t>
            </a:r>
            <a:r>
              <a:rPr sz="1100" b="0" dirty="0" err="1">
                <a:solidFill>
                  <a:srgbClr val="E5E7EB"/>
                </a:solidFill>
              </a:rPr>
              <a:t>products.ts</a:t>
            </a:r>
            <a:r>
              <a:rPr sz="1100" b="0" dirty="0">
                <a:solidFill>
                  <a:srgbClr val="E5E7EB"/>
                </a:solidFill>
              </a:rPr>
              <a:t>          ← 6 </a:t>
            </a:r>
            <a:r>
              <a:rPr sz="1100" b="0" dirty="0" err="1">
                <a:solidFill>
                  <a:srgbClr val="E5E7EB"/>
                </a:solidFill>
              </a:rPr>
              <a:t>termék</a:t>
            </a:r>
            <a:r>
              <a:rPr sz="1100" b="0" dirty="0">
                <a:solidFill>
                  <a:srgbClr val="E5E7EB"/>
                </a:solidFill>
              </a:rPr>
              <a:t> </a:t>
            </a:r>
            <a:r>
              <a:rPr sz="1100" b="0" dirty="0" err="1">
                <a:solidFill>
                  <a:srgbClr val="E5E7EB"/>
                </a:solidFill>
              </a:rPr>
              <a:t>statikus</a:t>
            </a:r>
            <a:r>
              <a:rPr sz="1100" b="0" dirty="0">
                <a:solidFill>
                  <a:srgbClr val="E5E7EB"/>
                </a:solidFill>
              </a:rPr>
              <a:t> </a:t>
            </a:r>
            <a:r>
              <a:rPr sz="1100" b="0" dirty="0" err="1">
                <a:solidFill>
                  <a:srgbClr val="E5E7EB"/>
                </a:solidFill>
              </a:rPr>
              <a:t>katalógus</a:t>
            </a:r>
            <a:endParaRPr sz="1100" b="0" dirty="0">
              <a:solidFill>
                <a:srgbClr val="E5E7EB"/>
              </a:solidFill>
            </a:endParaRP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</a:t>
            </a:r>
            <a:r>
              <a:rPr sz="1100" b="0" dirty="0" err="1">
                <a:solidFill>
                  <a:srgbClr val="E5E7EB"/>
                </a:solidFill>
              </a:rPr>
              <a:t>theme.ts</a:t>
            </a:r>
            <a:r>
              <a:rPr sz="1100" b="0" dirty="0">
                <a:solidFill>
                  <a:srgbClr val="E5E7EB"/>
                </a:solidFill>
              </a:rPr>
              <a:t>             ← </a:t>
            </a:r>
            <a:r>
              <a:rPr sz="1100" b="0" dirty="0" err="1">
                <a:solidFill>
                  <a:srgbClr val="E5E7EB"/>
                </a:solidFill>
              </a:rPr>
              <a:t>isDarkMode</a:t>
            </a:r>
            <a:r>
              <a:rPr sz="1100" b="0" dirty="0">
                <a:solidFill>
                  <a:srgbClr val="E5E7EB"/>
                </a:solidFill>
              </a:rPr>
              <a:t> store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</a:t>
            </a:r>
            <a:r>
              <a:rPr sz="1100" b="0" dirty="0" err="1">
                <a:solidFill>
                  <a:srgbClr val="E5E7EB"/>
                </a:solidFill>
              </a:rPr>
              <a:t>types.ts</a:t>
            </a:r>
            <a:r>
              <a:rPr sz="1100" b="0" dirty="0">
                <a:solidFill>
                  <a:srgbClr val="E5E7EB"/>
                </a:solidFill>
              </a:rPr>
              <a:t>             ← TypeScript </a:t>
            </a:r>
            <a:r>
              <a:rPr sz="1100" b="0" dirty="0" err="1">
                <a:solidFill>
                  <a:srgbClr val="E5E7EB"/>
                </a:solidFill>
              </a:rPr>
              <a:t>interfészek</a:t>
            </a:r>
            <a:endParaRPr sz="1100" b="0" dirty="0">
              <a:solidFill>
                <a:srgbClr val="E5E7EB"/>
              </a:solidFill>
            </a:endParaRP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📄  </a:t>
            </a:r>
            <a:r>
              <a:rPr sz="1100" b="0" dirty="0" err="1">
                <a:solidFill>
                  <a:srgbClr val="E5E7EB"/>
                </a:solidFill>
              </a:rPr>
              <a:t>utils.ts</a:t>
            </a:r>
            <a:r>
              <a:rPr sz="1100" b="0" dirty="0">
                <a:solidFill>
                  <a:srgbClr val="E5E7EB"/>
                </a:solidFill>
              </a:rPr>
              <a:t>             ← </a:t>
            </a:r>
            <a:r>
              <a:rPr sz="1100" b="0" dirty="0" err="1">
                <a:solidFill>
                  <a:srgbClr val="E5E7EB"/>
                </a:solidFill>
              </a:rPr>
              <a:t>Validációs</a:t>
            </a:r>
            <a:r>
              <a:rPr sz="1100" b="0" dirty="0">
                <a:solidFill>
                  <a:srgbClr val="E5E7EB"/>
                </a:solidFill>
              </a:rPr>
              <a:t> </a:t>
            </a:r>
            <a:r>
              <a:rPr sz="1100" b="0" dirty="0" err="1">
                <a:solidFill>
                  <a:srgbClr val="E5E7EB"/>
                </a:solidFill>
              </a:rPr>
              <a:t>függvények</a:t>
            </a:r>
            <a:endParaRPr sz="1100" b="0" dirty="0">
              <a:solidFill>
                <a:srgbClr val="E5E7EB"/>
              </a:solidFill>
            </a:endParaRP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📁  components/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  📄  </a:t>
            </a:r>
            <a:r>
              <a:rPr sz="1100" b="0" dirty="0" err="1">
                <a:solidFill>
                  <a:srgbClr val="E5E7EB"/>
                </a:solidFill>
              </a:rPr>
              <a:t>ProductCard.svelte</a:t>
            </a:r>
            <a:r>
              <a:rPr sz="1100" b="0" dirty="0">
                <a:solidFill>
                  <a:srgbClr val="E5E7EB"/>
                </a:solidFill>
              </a:rPr>
              <a:t>      ← </a:t>
            </a:r>
            <a:r>
              <a:rPr sz="1100" b="0" dirty="0" err="1">
                <a:solidFill>
                  <a:srgbClr val="E5E7EB"/>
                </a:solidFill>
              </a:rPr>
              <a:t>Termék</a:t>
            </a:r>
            <a:r>
              <a:rPr sz="1100" b="0" dirty="0">
                <a:solidFill>
                  <a:srgbClr val="E5E7EB"/>
                </a:solidFill>
              </a:rPr>
              <a:t> </a:t>
            </a:r>
            <a:r>
              <a:rPr sz="1100" b="0" dirty="0" err="1">
                <a:solidFill>
                  <a:srgbClr val="E5E7EB"/>
                </a:solidFill>
              </a:rPr>
              <a:t>kártya</a:t>
            </a:r>
            <a:endParaRPr sz="1100" b="0" dirty="0">
              <a:solidFill>
                <a:srgbClr val="E5E7EB"/>
              </a:solidFill>
            </a:endParaRP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  📄  </a:t>
            </a:r>
            <a:r>
              <a:rPr sz="1100" b="0" dirty="0" err="1">
                <a:solidFill>
                  <a:srgbClr val="E5E7EB"/>
                </a:solidFill>
              </a:rPr>
              <a:t>ThemeDecorations.svelte</a:t>
            </a:r>
            <a:r>
              <a:rPr sz="1100" b="0" dirty="0">
                <a:solidFill>
                  <a:srgbClr val="E5E7EB"/>
                </a:solidFill>
              </a:rPr>
              <a:t> ← </a:t>
            </a:r>
            <a:r>
              <a:rPr sz="1100" b="0" dirty="0" err="1">
                <a:solidFill>
                  <a:srgbClr val="E5E7EB"/>
                </a:solidFill>
              </a:rPr>
              <a:t>Deko</a:t>
            </a:r>
            <a:r>
              <a:rPr sz="1100" b="0" dirty="0">
                <a:solidFill>
                  <a:srgbClr val="E5E7EB"/>
                </a:solidFill>
              </a:rPr>
              <a:t> (</a:t>
            </a:r>
            <a:r>
              <a:rPr sz="1100" b="0" dirty="0" err="1">
                <a:solidFill>
                  <a:srgbClr val="E5E7EB"/>
                </a:solidFill>
              </a:rPr>
              <a:t>csillagok</a:t>
            </a:r>
            <a:r>
              <a:rPr sz="1100" b="0" dirty="0">
                <a:solidFill>
                  <a:srgbClr val="E5E7EB"/>
                </a:solidFill>
              </a:rPr>
              <a:t>/</a:t>
            </a:r>
            <a:r>
              <a:rPr sz="1100" b="0" dirty="0" err="1">
                <a:solidFill>
                  <a:srgbClr val="E5E7EB"/>
                </a:solidFill>
              </a:rPr>
              <a:t>felhők</a:t>
            </a:r>
            <a:r>
              <a:rPr sz="1100" b="0" dirty="0">
                <a:solidFill>
                  <a:srgbClr val="E5E7EB"/>
                </a:solidFill>
              </a:rPr>
              <a:t>)</a:t>
            </a:r>
          </a:p>
          <a:p>
            <a:pPr algn="l"/>
            <a:r>
              <a:rPr sz="1100" b="0" dirty="0">
                <a:solidFill>
                  <a:srgbClr val="E5E7EB"/>
                </a:solidFill>
              </a:rPr>
              <a:t>      📁  </a:t>
            </a:r>
            <a:r>
              <a:rPr sz="1100" b="0" dirty="0" err="1">
                <a:solidFill>
                  <a:srgbClr val="E5E7EB"/>
                </a:solidFill>
              </a:rPr>
              <a:t>ui</a:t>
            </a:r>
            <a:r>
              <a:rPr sz="1100" b="0" dirty="0">
                <a:solidFill>
                  <a:srgbClr val="E5E7EB"/>
                </a:solidFill>
              </a:rPr>
              <a:t>/  (</a:t>
            </a:r>
            <a:r>
              <a:rPr sz="1100" b="0" dirty="0" err="1">
                <a:solidFill>
                  <a:srgbClr val="E5E7EB"/>
                </a:solidFill>
              </a:rPr>
              <a:t>shadcn</a:t>
            </a:r>
            <a:r>
              <a:rPr sz="1100" b="0" dirty="0">
                <a:solidFill>
                  <a:srgbClr val="E5E7EB"/>
                </a:solidFill>
              </a:rPr>
              <a:t>-svelte)    ← 30+ UI </a:t>
            </a:r>
            <a:r>
              <a:rPr sz="1100" b="0" dirty="0" err="1">
                <a:solidFill>
                  <a:srgbClr val="E5E7EB"/>
                </a:solidFill>
              </a:rPr>
              <a:t>komponens</a:t>
            </a:r>
            <a:endParaRPr sz="1100" b="0" dirty="0">
              <a:solidFill>
                <a:srgbClr val="E5E7EB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7132320" y="2194560"/>
            <a:ext cx="4754880" cy="960120"/>
          </a:xfrm>
          <a:prstGeom prst="ellipse">
            <a:avLst/>
          </a:prstGeom>
          <a:solidFill>
            <a:srgbClr val="180E05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57622" y="2249424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C48B4A"/>
                </a:solidFill>
              </a:rPr>
              <a:t>ProductCard.svelte</a:t>
            </a:r>
            <a:endParaRPr sz="1300" b="1" i="0" dirty="0">
              <a:solidFill>
                <a:srgbClr val="C48B4A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72138" y="264718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Tej/cukor dropdown, mennyiség
+/– gombok, kosárba gomb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0" y="3310128"/>
            <a:ext cx="4754880" cy="960120"/>
          </a:xfrm>
          <a:prstGeom prst="ellipse">
            <a:avLst/>
          </a:prstGeom>
          <a:solidFill>
            <a:srgbClr val="180E05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24539" y="3377542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C48B4A"/>
                </a:solidFill>
              </a:rPr>
              <a:t>ThemeDecorations.svelte</a:t>
            </a:r>
            <a:endParaRPr sz="1300" b="1" i="0" dirty="0">
              <a:solidFill>
                <a:srgbClr val="C48B4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24539" y="375585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E5E7EB"/>
                </a:solidFill>
              </a:rPr>
              <a:t>Generált</a:t>
            </a:r>
            <a:r>
              <a:rPr sz="1100" b="0" i="0" dirty="0">
                <a:solidFill>
                  <a:srgbClr val="E5E7EB"/>
                </a:solidFill>
              </a:rPr>
              <a:t> </a:t>
            </a:r>
            <a:r>
              <a:rPr sz="1100" b="0" i="0" dirty="0" err="1">
                <a:solidFill>
                  <a:srgbClr val="E5E7EB"/>
                </a:solidFill>
              </a:rPr>
              <a:t>csillagok</a:t>
            </a:r>
            <a:r>
              <a:rPr sz="1100" b="0" i="0" dirty="0">
                <a:solidFill>
                  <a:srgbClr val="E5E7EB"/>
                </a:solidFill>
              </a:rPr>
              <a:t> (dark) </a:t>
            </a:r>
            <a:r>
              <a:rPr sz="1100" b="0" i="0" dirty="0" err="1">
                <a:solidFill>
                  <a:srgbClr val="E5E7EB"/>
                </a:solidFill>
              </a:rPr>
              <a:t>és</a:t>
            </a:r>
            <a:r>
              <a:rPr sz="1100" b="0" i="0" dirty="0">
                <a:solidFill>
                  <a:srgbClr val="E5E7EB"/>
                </a:solidFill>
              </a:rPr>
              <a:t>
</a:t>
            </a:r>
            <a:r>
              <a:rPr sz="1100" b="0" i="0" dirty="0" err="1">
                <a:solidFill>
                  <a:srgbClr val="E5E7EB"/>
                </a:solidFill>
              </a:rPr>
              <a:t>felhők</a:t>
            </a:r>
            <a:r>
              <a:rPr sz="1100" b="0" i="0" dirty="0">
                <a:solidFill>
                  <a:srgbClr val="E5E7EB"/>
                </a:solidFill>
              </a:rPr>
              <a:t> (light) </a:t>
            </a:r>
            <a:r>
              <a:rPr sz="1100" b="0" i="0" dirty="0" err="1">
                <a:solidFill>
                  <a:srgbClr val="E5E7EB"/>
                </a:solidFill>
              </a:rPr>
              <a:t>animációval</a:t>
            </a:r>
            <a:endParaRPr sz="1100" b="0" i="0" dirty="0">
              <a:solidFill>
                <a:srgbClr val="E5E7EB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7132320" y="4425696"/>
            <a:ext cx="4754880" cy="960120"/>
          </a:xfrm>
          <a:prstGeom prst="ellipse">
            <a:avLst/>
          </a:prstGeom>
          <a:solidFill>
            <a:srgbClr val="180E05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20866" y="4517136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C48B4A"/>
                </a:solidFill>
              </a:rPr>
              <a:t>+</a:t>
            </a:r>
            <a:r>
              <a:rPr sz="1300" b="1" i="0" dirty="0" err="1">
                <a:solidFill>
                  <a:srgbClr val="C48B4A"/>
                </a:solidFill>
              </a:rPr>
              <a:t>page.svelte</a:t>
            </a:r>
            <a:r>
              <a:rPr sz="1300" b="1" i="0" dirty="0">
                <a:solidFill>
                  <a:srgbClr val="C48B4A"/>
                </a:solidFill>
              </a:rPr>
              <a:t> (</a:t>
            </a:r>
            <a:r>
              <a:rPr sz="1300" b="1" i="0" dirty="0" err="1">
                <a:solidFill>
                  <a:srgbClr val="C48B4A"/>
                </a:solidFill>
              </a:rPr>
              <a:t>főoldal</a:t>
            </a:r>
            <a:r>
              <a:rPr sz="1300" b="1" i="0" dirty="0">
                <a:solidFill>
                  <a:srgbClr val="C48B4A"/>
                </a:solidFill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6180" y="483260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E5E7EB"/>
                </a:solidFill>
              </a:rPr>
              <a:t>6x </a:t>
            </a:r>
            <a:r>
              <a:rPr sz="1100" b="0" i="0" dirty="0" err="1">
                <a:solidFill>
                  <a:srgbClr val="E5E7EB"/>
                </a:solidFill>
              </a:rPr>
              <a:t>ProductCard</a:t>
            </a:r>
            <a:r>
              <a:rPr sz="1100" b="0" i="0" dirty="0">
                <a:solidFill>
                  <a:srgbClr val="E5E7EB"/>
                </a:solidFill>
              </a:rPr>
              <a:t> grid,
Checkout bar </a:t>
            </a:r>
            <a:r>
              <a:rPr sz="1100" b="0" i="0" dirty="0" err="1">
                <a:solidFill>
                  <a:srgbClr val="E5E7EB"/>
                </a:solidFill>
              </a:rPr>
              <a:t>végösszeggel</a:t>
            </a:r>
            <a:endParaRPr sz="1100" b="0" i="0" dirty="0">
              <a:solidFill>
                <a:srgbClr val="E5E7EB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7132320" y="5541264"/>
            <a:ext cx="4754880" cy="960120"/>
          </a:xfrm>
          <a:prstGeom prst="ellipse">
            <a:avLst/>
          </a:prstGeom>
          <a:solidFill>
            <a:srgbClr val="180E05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20866" y="5643282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C48B4A"/>
                </a:solidFill>
              </a:rPr>
              <a:t>+</a:t>
            </a:r>
            <a:r>
              <a:rPr sz="1300" b="1" i="0" dirty="0" err="1">
                <a:solidFill>
                  <a:srgbClr val="C48B4A"/>
                </a:solidFill>
              </a:rPr>
              <a:t>page.svelte</a:t>
            </a:r>
            <a:r>
              <a:rPr sz="1300" b="1" i="0" dirty="0">
                <a:solidFill>
                  <a:srgbClr val="C48B4A"/>
                </a:solidFill>
              </a:rPr>
              <a:t> (admin)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6180" y="6000436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E5E7EB"/>
                </a:solidFill>
              </a:rPr>
              <a:t>Bejelentkezés</a:t>
            </a:r>
            <a:r>
              <a:rPr sz="1100" b="0" i="0" dirty="0">
                <a:solidFill>
                  <a:srgbClr val="E5E7EB"/>
                </a:solidFill>
              </a:rPr>
              <a:t>, </a:t>
            </a:r>
            <a:r>
              <a:rPr sz="1100" b="0" i="0" dirty="0" err="1">
                <a:solidFill>
                  <a:srgbClr val="E5E7EB"/>
                </a:solidFill>
              </a:rPr>
              <a:t>rendelés</a:t>
            </a:r>
            <a:r>
              <a:rPr sz="1100" b="0" i="0" dirty="0">
                <a:solidFill>
                  <a:srgbClr val="E5E7EB"/>
                </a:solidFill>
              </a:rPr>
              <a:t> </a:t>
            </a:r>
            <a:r>
              <a:rPr sz="1100" b="0" i="0" dirty="0" err="1">
                <a:solidFill>
                  <a:srgbClr val="E5E7EB"/>
                </a:solidFill>
              </a:rPr>
              <a:t>táblázat</a:t>
            </a:r>
            <a:r>
              <a:rPr sz="1100" b="0" i="0" dirty="0">
                <a:solidFill>
                  <a:srgbClr val="E5E7EB"/>
                </a:solidFill>
              </a:rPr>
              <a:t>,
Dialog modal, Badge </a:t>
            </a:r>
            <a:r>
              <a:rPr sz="1100" b="0" i="0" dirty="0" err="1">
                <a:solidFill>
                  <a:srgbClr val="E5E7EB"/>
                </a:solidFill>
              </a:rPr>
              <a:t>státusz</a:t>
            </a:r>
            <a:endParaRPr sz="1100" b="0" i="0" dirty="0">
              <a:solidFill>
                <a:srgbClr val="E5E7EB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08  Állapotkezelés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Svelte stores – reaktív, minimális overhead</a:t>
            </a:r>
          </a:p>
        </p:txBody>
      </p:sp>
      <p:sp>
        <p:nvSpPr>
          <p:cNvPr id="7" name="Oval 6"/>
          <p:cNvSpPr/>
          <p:nvPr/>
        </p:nvSpPr>
        <p:spPr>
          <a:xfrm>
            <a:off x="320040" y="2148840"/>
            <a:ext cx="3566160" cy="658368"/>
          </a:xfrm>
          <a:prstGeom prst="ellipse">
            <a:avLst/>
          </a:prstGeom>
          <a:solidFill>
            <a:srgbClr val="7B4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2176272"/>
            <a:ext cx="3383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cartItems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487168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E6CB"/>
                </a:solidFill>
              </a:rPr>
              <a:t>Writable&lt;CartItem[]&gt;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443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Kosár tartalmának tárolása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3872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Inicializálás: üres tömb []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330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Módosítás: update() metódus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27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Perzisztencia: nincs (session-only)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218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Export: addToCart() függvény</a:t>
            </a:r>
          </a:p>
        </p:txBody>
      </p:sp>
      <p:sp>
        <p:nvSpPr>
          <p:cNvPr id="15" name="Oval 14"/>
          <p:cNvSpPr/>
          <p:nvPr/>
        </p:nvSpPr>
        <p:spPr>
          <a:xfrm>
            <a:off x="4206240" y="2148840"/>
            <a:ext cx="3566160" cy="658368"/>
          </a:xfrm>
          <a:prstGeom prst="ellipse">
            <a:avLst/>
          </a:prstGeom>
          <a:solidFill>
            <a:srgbClr val="06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79" y="2176272"/>
            <a:ext cx="3383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cartTotal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2487168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E6CB"/>
                </a:solidFill>
              </a:rPr>
              <a:t>Derived&lt;number&gt;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443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Kosár végösszeg automatikus számítás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53872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Függ: cartItems store-tól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1330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Csak olvasható (read-only)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727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Képlet: Σ(ár × mennyiség)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3218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Automatikus újraszámítás</a:t>
            </a:r>
          </a:p>
        </p:txBody>
      </p:sp>
      <p:sp>
        <p:nvSpPr>
          <p:cNvPr id="23" name="Oval 22"/>
          <p:cNvSpPr/>
          <p:nvPr/>
        </p:nvSpPr>
        <p:spPr>
          <a:xfrm>
            <a:off x="8092440" y="2148840"/>
            <a:ext cx="3566160" cy="658368"/>
          </a:xfrm>
          <a:prstGeom prst="ellipse">
            <a:avLst/>
          </a:prstGeom>
          <a:solidFill>
            <a:srgbClr val="2D1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83879" y="2176272"/>
            <a:ext cx="3383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isDarkMode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487168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E6CB"/>
                </a:solidFill>
              </a:rPr>
              <a:t>Writable&lt;boolean&gt;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29443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Aktív téma tárolása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53872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Inicializálás: localStorage / 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41330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Side-effect: DOM classList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727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Perzisztencia: localStorage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9" y="53218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▸  Export: toggleTheme() függvény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080760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5E7EB"/>
                </a:solidFill>
              </a:rPr>
              <a:t>💡  Svelte $-prefix auto-subscribe: "{$cartTotal} Ft" – automatikus DOM frissítés store változáskor, runtime overhead nélkül.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09  Vizuális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Glassmorphism, animációk, kétféle témamód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488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48B4A"/>
                </a:solidFill>
              </a:rPr>
              <a:t>Glassmorphism rétegek:</a:t>
            </a:r>
          </a:p>
          <a:p>
            <a:pPr algn="l"/>
            <a:endParaRPr sz="1300" b="0">
              <a:solidFill>
                <a:srgbClr val="C48B4A"/>
              </a:solidFill>
            </a:endParaRPr>
          </a:p>
          <a:p>
            <a:pPr algn="l"/>
            <a:r>
              <a:rPr sz="1300" b="0">
                <a:solidFill>
                  <a:srgbClr val="E5E7EB"/>
                </a:solidFill>
              </a:rPr>
              <a:t>1. Háttér blur:   backdrop-blur-xl  (24px)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2. Overlay:       bg-white/[0.08]   (8% fehér)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3. Border:        border-white/[0.15]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4. Árnyék:        shadow-[0_8px_32px_rgba(0,0,0,.4)]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5. Hover:         bg-white/[0.15]  (erősebb)</a:t>
            </a:r>
          </a:p>
          <a:p>
            <a:pPr algn="l"/>
            <a:endParaRPr sz="1300" b="0">
              <a:solidFill>
                <a:srgbClr val="E5E7EB"/>
              </a:solidFill>
            </a:endParaRPr>
          </a:p>
          <a:p>
            <a:pPr algn="l"/>
            <a:r>
              <a:rPr sz="1300" b="0">
                <a:solidFill>
                  <a:srgbClr val="E5E7EB"/>
                </a:solidFill>
              </a:rPr>
              <a:t>Animációk:</a:t>
            </a:r>
          </a:p>
          <a:p>
            <a:pPr algn="l"/>
            <a:endParaRPr sz="1300" b="0">
              <a:solidFill>
                <a:srgbClr val="E5E7EB"/>
              </a:solidFill>
            </a:endParaRPr>
          </a:p>
          <a:p>
            <a:pPr algn="l"/>
            <a:r>
              <a:rPr sz="1300" b="0">
                <a:solidFill>
                  <a:srgbClr val="E5E7EB"/>
                </a:solidFill>
              </a:rPr>
              <a:t>• twinkle – csillag villogás (sötét mód)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• float   – felhő lebegés   (világos mód)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• transition-all duration-300 (hover)</a:t>
            </a:r>
          </a:p>
          <a:p>
            <a:pPr algn="l"/>
            <a:r>
              <a:rPr sz="1300" b="0">
                <a:solidFill>
                  <a:srgbClr val="E5E7EB"/>
                </a:solidFill>
              </a:rPr>
              <a:t>• transition-opacity duration-700 (téma)</a:t>
            </a:r>
          </a:p>
        </p:txBody>
      </p:sp>
      <p:sp>
        <p:nvSpPr>
          <p:cNvPr id="8" name="Oval 7"/>
          <p:cNvSpPr/>
          <p:nvPr/>
        </p:nvSpPr>
        <p:spPr>
          <a:xfrm>
            <a:off x="5989320" y="2148840"/>
            <a:ext cx="2880360" cy="2130552"/>
          </a:xfrm>
          <a:prstGeom prst="ellipse">
            <a:avLst/>
          </a:prstGeom>
          <a:solidFill>
            <a:srgbClr val="0D0E1A"/>
          </a:solidFill>
          <a:ln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21284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E6CB"/>
                </a:solidFill>
              </a:rPr>
              <a:t>🌙  Sötét mód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334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★  Háttér: #0d0e1a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953512"/>
            <a:ext cx="2468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E5E7EB"/>
                </a:solidFill>
              </a:rPr>
              <a:t>★  </a:t>
            </a:r>
            <a:r>
              <a:rPr sz="1100" b="0" i="0" dirty="0" err="1">
                <a:solidFill>
                  <a:srgbClr val="E5E7EB"/>
                </a:solidFill>
              </a:rPr>
              <a:t>Akcentus</a:t>
            </a:r>
            <a:r>
              <a:rPr sz="1100" b="0" i="0" dirty="0">
                <a:solidFill>
                  <a:srgbClr val="E5E7EB"/>
                </a:solidFill>
              </a:rPr>
              <a:t>: pink→</a:t>
            </a:r>
            <a:r>
              <a:rPr lang="hu-HU" sz="1100" b="0" i="0" dirty="0">
                <a:solidFill>
                  <a:srgbClr val="E5E7EB"/>
                </a:solidFill>
              </a:rPr>
              <a:t>fehér</a:t>
            </a:r>
            <a:r>
              <a:rPr sz="1100" b="0" i="0" dirty="0">
                <a:solidFill>
                  <a:srgbClr val="E5E7EB"/>
                </a:solidFill>
              </a:rPr>
              <a:t> </a:t>
            </a:r>
            <a:r>
              <a:rPr sz="1100" b="0" i="0" dirty="0" err="1">
                <a:solidFill>
                  <a:srgbClr val="E5E7EB"/>
                </a:solidFill>
              </a:rPr>
              <a:t>gradiens</a:t>
            </a:r>
            <a:endParaRPr sz="1100" b="0" i="0" dirty="0">
              <a:solidFill>
                <a:srgbClr val="E5E7EB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63640" y="32735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★  Csillagok + 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9359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★  text-white / text-gray-200</a:t>
            </a:r>
          </a:p>
        </p:txBody>
      </p:sp>
      <p:sp>
        <p:nvSpPr>
          <p:cNvPr id="14" name="Oval 13"/>
          <p:cNvSpPr/>
          <p:nvPr/>
        </p:nvSpPr>
        <p:spPr>
          <a:xfrm>
            <a:off x="9052560" y="2148839"/>
            <a:ext cx="2834640" cy="2130553"/>
          </a:xfrm>
          <a:prstGeom prst="ellipse">
            <a:avLst/>
          </a:prstGeom>
          <a:solidFill>
            <a:srgbClr val="475569"/>
          </a:solidFill>
          <a:ln>
            <a:solidFill>
              <a:srgbClr val="C48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221284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E6CB"/>
                </a:solidFill>
              </a:rPr>
              <a:t>☀  Világos mód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6334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E6CB"/>
                </a:solidFill>
              </a:rPr>
              <a:t>☁  Háttér: slate-700 → slate-500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95351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E6CB"/>
                </a:solidFill>
              </a:rPr>
              <a:t>☁  Overlay: bg-white/30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32735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E6CB"/>
                </a:solidFill>
              </a:rPr>
              <a:t>☁  Felhők + nap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59359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E6CB"/>
                </a:solidFill>
              </a:rPr>
              <a:t>☁  text-gray-800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27939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8B4A"/>
                </a:solidFill>
              </a:rPr>
              <a:t>Responsive rács rendszer: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66344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</a:rPr>
              <a:t>• Mobil (&lt; 768px):   1 oszlop   grid-cols-1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Tablet (768px+):   2 oszlop   md:grid-cols-2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Desktop (1024px+): 3 oszlop   lg:grid-cols-3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Max szélesség:  max-w-6xl mx-auto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10  Tesztelés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Vitest – unit és integrációs tesztek, 110+ teszteset</a:t>
            </a:r>
          </a:p>
        </p:txBody>
      </p:sp>
      <p:sp>
        <p:nvSpPr>
          <p:cNvPr id="7" name="Oval 6"/>
          <p:cNvSpPr/>
          <p:nvPr/>
        </p:nvSpPr>
        <p:spPr>
          <a:xfrm>
            <a:off x="320040" y="2148840"/>
            <a:ext cx="2743200" cy="475488"/>
          </a:xfrm>
          <a:prstGeom prst="ellipse">
            <a:avLst/>
          </a:prstGeom>
          <a:solidFill>
            <a:srgbClr val="7B4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Validációs függvények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tests/utils.test.ts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108960"/>
            <a:ext cx="1188720" cy="365760"/>
          </a:xfrm>
          <a:prstGeom prst="ellipse">
            <a:avLst/>
          </a:prstGeom>
          <a:solidFill>
            <a:srgbClr val="7B4418"/>
          </a:solidFill>
          <a:ln>
            <a:solidFill>
              <a:srgbClr val="7B4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59 eset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61188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validateEmail – 12 eset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411480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validatePhone – 14 eset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461772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validateZip – 10 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512064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validateCity – 12 eset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6235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validateStreet – 11 eset</a:t>
            </a:r>
          </a:p>
        </p:txBody>
      </p:sp>
      <p:sp>
        <p:nvSpPr>
          <p:cNvPr id="16" name="Oval 15"/>
          <p:cNvSpPr/>
          <p:nvPr/>
        </p:nvSpPr>
        <p:spPr>
          <a:xfrm>
            <a:off x="3337560" y="2148840"/>
            <a:ext cx="2743200" cy="475488"/>
          </a:xfrm>
          <a:prstGeom prst="ellipse">
            <a:avLst/>
          </a:prstGeom>
          <a:solidFill>
            <a:srgbClr val="06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9000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Kosár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tests/cart.test.ts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0" y="3108960"/>
            <a:ext cx="1188720" cy="365760"/>
          </a:xfrm>
          <a:prstGeom prst="ellipse">
            <a:avLst/>
          </a:prstGeom>
          <a:solidFill>
            <a:srgbClr val="066B4A"/>
          </a:solidFill>
          <a:ln>
            <a:solidFill>
              <a:srgbClr val="06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15 eset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61188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addToCart – termék hozzáadás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11480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cartTotal – végösszeg számítás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61772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mennyiség kezelés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512064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módosítók (tej, cukor)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56235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több tétel kezelése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2148840"/>
            <a:ext cx="2743200" cy="475488"/>
          </a:xfrm>
          <a:prstGeom prst="ellipse">
            <a:avLst/>
          </a:prstGeom>
          <a:solidFill>
            <a:srgbClr val="317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46520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API kliens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tests/api.test.ts</a:t>
            </a:r>
          </a:p>
        </p:txBody>
      </p:sp>
      <p:sp>
        <p:nvSpPr>
          <p:cNvPr id="28" name="Oval 27"/>
          <p:cNvSpPr/>
          <p:nvPr/>
        </p:nvSpPr>
        <p:spPr>
          <a:xfrm>
            <a:off x="7132320" y="3108960"/>
            <a:ext cx="1188720" cy="365760"/>
          </a:xfrm>
          <a:prstGeom prst="ellipse">
            <a:avLst/>
          </a:prstGeom>
          <a:solidFill>
            <a:srgbClr val="3178C6"/>
          </a:solidFill>
          <a:ln>
            <a:solidFill>
              <a:srgbClr val="3178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16 eset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61188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Token set/get/clear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11480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authHeaders generálás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61772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login/logout hívás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2064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hiba kezelés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6235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fetch wrapper</a:t>
            </a:r>
          </a:p>
        </p:txBody>
      </p:sp>
      <p:sp>
        <p:nvSpPr>
          <p:cNvPr id="34" name="Oval 33"/>
          <p:cNvSpPr/>
          <p:nvPr/>
        </p:nvSpPr>
        <p:spPr>
          <a:xfrm>
            <a:off x="9326880" y="2148840"/>
            <a:ext cx="2743200" cy="475488"/>
          </a:xfrm>
          <a:prstGeom prst="ellipse">
            <a:avLst/>
          </a:prstGeom>
          <a:solidFill>
            <a:srgbClr val="2D1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18319" y="21762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Backend integrációs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19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</a:rPr>
              <a:t>tests/server.test.ts</a:t>
            </a:r>
          </a:p>
        </p:txBody>
      </p:sp>
      <p:sp>
        <p:nvSpPr>
          <p:cNvPr id="37" name="Oval 36"/>
          <p:cNvSpPr/>
          <p:nvPr/>
        </p:nvSpPr>
        <p:spPr>
          <a:xfrm>
            <a:off x="10104119" y="3108960"/>
            <a:ext cx="1188720" cy="365760"/>
          </a:xfrm>
          <a:prstGeom prst="ellipse">
            <a:avLst/>
          </a:prstGeom>
          <a:solidFill>
            <a:srgbClr val="2D1B4E"/>
          </a:solidFill>
          <a:ln>
            <a:solidFill>
              <a:srgbClr val="2D1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~20 eset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19" y="361188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API végpontok tesztelése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19" y="411480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JWT autentikáció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19" y="461772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Rendelés CRUD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512064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Termék végpontok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19" y="5623560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• Szerver fut közben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144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48B4A"/>
                </a:solidFill>
              </a:rPr>
              <a:t>Futtatás: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4652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npm run test   |   npm run test:watch   |   npm run test:server   |   npm run test:all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50292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00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E6CB"/>
                </a:solidFill>
              </a:rPr>
              <a:t>11  Fejlesztési parancsok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</a:rPr>
              <a:t>NPM szkriptek – fejlesztés, adatbázis, tesztelés,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17627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B4A"/>
                </a:solidFill>
              </a:rPr>
              <a:t>▶ Fejlesztés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5603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6060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0603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Frontend dev szerver  (port 5173)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0175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0632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06323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Backend API szerver   (port 3000)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4747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204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dev:all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2043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Mindkettő egyszerre   (concurrently)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1148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B4A"/>
                </a:solidFill>
              </a:rPr>
              <a:t>🗄 Adatbázis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988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45445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db:init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445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Adatbázis inicializálása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9560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0017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db:reset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0017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Adatbázis visszaállítása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4132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4589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db:check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4589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Adatbázis ellenőrzése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8704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9161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db:seed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916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Tesztadatok betöltése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79" y="217627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B4A"/>
                </a:solidFill>
              </a:rPr>
              <a:t>🧪 Tesztelés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79" y="25603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26060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60603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Unit tesztek (vitest run)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79" y="30175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92240" y="30632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test:watch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06323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Tesztek figyelő módban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79" y="34747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92240" y="35204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test:server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352043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Backend integrációs tesztek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79" y="3931920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92240" y="39776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test:all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3977639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Összes teszt egyszerre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79" y="45720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8B4A"/>
                </a:solidFill>
              </a:rPr>
              <a:t>📦 Build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79" y="49560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50017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build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50017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Produkciós build (Vite)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79" y="54132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54589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preview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4589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Build előnézet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79" y="5870448"/>
            <a:ext cx="5669280" cy="438912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0" y="59161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E6CB"/>
                </a:solidFill>
              </a:rPr>
              <a:t>npm run check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91616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5E7EB"/>
                </a:solidFill>
              </a:rPr>
              <a:t>TypeScript + svelte-check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4465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E6CB"/>
                </a:solidFill>
              </a:rPr>
              <a:t>🌐  Frontend: http://localhost:5173   |   🔌  Backend API: http://localhost:3000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0" y="3712464"/>
            <a:ext cx="3200400" cy="3200400"/>
          </a:xfrm>
          <a:prstGeom prst="ellipse">
            <a:avLst/>
          </a:prstGeom>
          <a:solidFill>
            <a:srgbClr val="2D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445625" y="45720"/>
            <a:ext cx="2743200" cy="2743200"/>
          </a:xfrm>
          <a:prstGeom prst="ellipse">
            <a:avLst/>
          </a:prstGeom>
          <a:solidFill>
            <a:srgbClr val="1E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094476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4476" y="0"/>
            <a:ext cx="6094476" cy="54864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459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E6CB"/>
                </a:solidFill>
              </a:rPr>
              <a:t>12  Összefoglalás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2471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0515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Full-stack alkalmazás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05156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SvelteKit frontend + Express.js backend + SQLite adatbázis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0195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288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Teljes vásárlási folyamat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Termék kiválasztás → kosár → checkout → rendelés mentés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7919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6060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Admin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60604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JWT autentikáció, rendelés kezelés, státusz módosítás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45643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38327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110+ teszt 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83279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Vitest unit tesztek (utils, cart, api) + backend integrációs tesztek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336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1605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Glassmorphism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6052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Animált dekorációk, kétféle téma, reszponzív rács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1091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2C55E"/>
                </a:solidFill>
              </a:rP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93775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E6CB"/>
                </a:solidFill>
              </a:rPr>
              <a:t>Reaktív állapotkezelés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937759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E7EB"/>
                </a:solidFill>
              </a:rPr>
              <a:t>Svelte stores – automatikus DOM frissítés, localStorage perzisztencia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11430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8B4A"/>
                </a:solidFill>
              </a:rPr>
              <a:t>Lehetséges fejlesztések: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Kosár localStorage perzisztencia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Felhasználói fiók regisztráció/bejelentkezés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Email értesítések rendelés után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Termékkeresés és szűrés</a:t>
            </a:r>
          </a:p>
          <a:p>
            <a:pPr algn="l"/>
            <a:r>
              <a:rPr sz="1200" b="0">
                <a:solidFill>
                  <a:srgbClr val="E5E7EB"/>
                </a:solidFill>
              </a:rPr>
              <a:t>• Fizetési gateway integráció (Stripe)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84848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94476" y="6784848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NeoCoffee Webáruház  |  2025-2026  |  Nagy Kristóf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TypeScript Típusok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Az adatstruktúrák definiálása – minden réteg alapja  (types.ts)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src/lib/types.ts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05712" y="1892808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Termék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interfész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export interface Product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id:     string;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name:   string;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price:  number;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image?: string | null;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Módosítók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(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tej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cukor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)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export interface Modifiers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milk:  string;   // "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Mandula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tej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" | "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Tehéntej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" | …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sugar: string;   // "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Nincs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" | "1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kanál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" | "2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kanál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"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Kosár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elem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kibővíti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a Product-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ot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export interface </a:t>
            </a:r>
            <a:r>
              <a:rPr sz="1100" dirty="0" err="1">
                <a:solidFill>
                  <a:srgbClr val="C78AFF"/>
                </a:solidFill>
                <a:latin typeface="Consolas"/>
              </a:rPr>
              <a:t>CartItem</a:t>
            </a:r>
            <a:r>
              <a:rPr sz="1100" dirty="0">
                <a:solidFill>
                  <a:srgbClr val="C78AFF"/>
                </a:solidFill>
                <a:latin typeface="Consolas"/>
              </a:rPr>
              <a:t> extends Product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quantity:  number;</a:t>
            </a:r>
          </a:p>
          <a:p>
            <a:pPr algn="l"/>
            <a:r>
              <a:rPr sz="1100" dirty="0">
                <a:solidFill>
                  <a:srgbClr val="56B6C2"/>
                </a:solidFill>
                <a:latin typeface="Consolas"/>
              </a:rPr>
              <a:t>    modifiers: Modifiers;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33944" y="1769633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Rendelési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tétel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export interface </a:t>
            </a:r>
            <a:r>
              <a:rPr sz="1100" dirty="0" err="1">
                <a:solidFill>
                  <a:srgbClr val="C78AFF"/>
                </a:solidFill>
                <a:latin typeface="Consolas"/>
              </a:rPr>
              <a:t>OrderItem</a:t>
            </a:r>
            <a:r>
              <a:rPr sz="1100" dirty="0">
                <a:solidFill>
                  <a:srgbClr val="C78AFF"/>
                </a:solidFill>
                <a:latin typeface="Consolas"/>
              </a:rPr>
              <a:t>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name:      string;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quantity:  number;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price:     number;</a:t>
            </a:r>
          </a:p>
          <a:p>
            <a:pPr algn="l"/>
            <a:r>
              <a:rPr sz="1100" dirty="0">
                <a:solidFill>
                  <a:srgbClr val="56B6C2"/>
                </a:solidFill>
                <a:latin typeface="Consolas"/>
              </a:rPr>
              <a:t>    modifiers: Modifiers;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Teljes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rendelés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(admin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felület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)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export interface Order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id:          string;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customerName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: string;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email:       string;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phone:       string;</a:t>
            </a:r>
          </a:p>
          <a:p>
            <a:pPr algn="l"/>
            <a:r>
              <a:rPr sz="1100" dirty="0">
                <a:solidFill>
                  <a:srgbClr val="56B6C2"/>
                </a:solidFill>
                <a:latin typeface="Consolas"/>
              </a:rPr>
              <a:t>    address:     Address;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orderDate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:   string;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shipped: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boolean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shippedDate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: string | null;</a:t>
            </a:r>
          </a:p>
          <a:p>
            <a:pPr algn="l"/>
            <a:r>
              <a:rPr sz="1100" dirty="0">
                <a:solidFill>
                  <a:srgbClr val="56B6C2"/>
                </a:solidFill>
                <a:latin typeface="Consolas"/>
              </a:rPr>
              <a:t>    items:       </a:t>
            </a:r>
            <a:r>
              <a:rPr sz="1100" dirty="0" err="1">
                <a:solidFill>
                  <a:srgbClr val="56B6C2"/>
                </a:solidFill>
                <a:latin typeface="Consolas"/>
              </a:rPr>
              <a:t>OrderItem</a:t>
            </a:r>
            <a:r>
              <a:rPr sz="1100" dirty="0">
                <a:solidFill>
                  <a:srgbClr val="56B6C2"/>
                </a:solidFill>
                <a:latin typeface="Consolas"/>
              </a:rPr>
              <a:t>[];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Kosár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Svelte writable + derived stores, addToCart függvény  (cart.ts)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src/lib/cart.ts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116128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62041" y="1554480"/>
            <a:ext cx="11338559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import { writable, derived } from 'svelte/store';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import type { </a:t>
            </a:r>
            <a:r>
              <a:rPr sz="1100" dirty="0" err="1">
                <a:solidFill>
                  <a:srgbClr val="C78AFF"/>
                </a:solidFill>
                <a:latin typeface="Consolas"/>
              </a:rPr>
              <a:t>CartItem</a:t>
            </a:r>
            <a:r>
              <a:rPr sz="1100" dirty="0">
                <a:solidFill>
                  <a:srgbClr val="C78AFF"/>
                </a:solidFill>
                <a:latin typeface="Consolas"/>
              </a:rPr>
              <a:t>, Product, Modifiers } from './types';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Írható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store – a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kosár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tartalma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export const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cartItems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= writable&lt;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CartItem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[]&gt;([]);</a:t>
            </a:r>
          </a:p>
          <a:p>
            <a:pPr algn="l"/>
            <a:endParaRPr sz="110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Derived store –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automatikusan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újraszámítja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a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végösszeget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export const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cartTotal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= derived(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cartItems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, ($items) =&gt;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return $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items.reduce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(total, item) =&gt; total + (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item.price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*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item.quantity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),</a:t>
            </a:r>
          </a:p>
          <a:p>
            <a:pPr algn="l"/>
            <a:r>
              <a:rPr sz="1100" dirty="0">
                <a:solidFill>
                  <a:srgbClr val="D19A66"/>
                </a:solidFill>
                <a:latin typeface="Consolas"/>
              </a:rPr>
              <a:t>        0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});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Termék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hozzáadása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a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kosárhoz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export const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addToCart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= (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product:   Product,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quantity:  number,</a:t>
            </a:r>
          </a:p>
          <a:p>
            <a:pPr algn="l"/>
            <a:r>
              <a:rPr sz="1100" dirty="0">
                <a:solidFill>
                  <a:srgbClr val="56B6C2"/>
                </a:solidFill>
                <a:latin typeface="Consolas"/>
              </a:rPr>
              <a:t>    modifiers: Modifiers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) =&gt; {</a:t>
            </a: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cartItems.update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(items =&gt;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const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newItem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: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CartItem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= { ...product, quantity, modifiers };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return [...items,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newItem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];  //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új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elem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hozzáfűzése</a:t>
            </a:r>
            <a:endParaRPr sz="110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});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Téma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isDarkMode store – localStorage szinkron, DOM osztály kezelés  (theme.ts)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src/lib/theme.ts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116128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20630" y="1325880"/>
            <a:ext cx="11338559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import { writable } from 'svelte/store';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import { browser } from '$app/environment';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Alapérték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: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localStorage-ból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szerveren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mindig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dark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const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defaultValue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= browser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? (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localStorage.getItem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('theme') !== 'light')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: true;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export const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isDarkMode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= writable&lt;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boolean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&gt;(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defaultValue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);</a:t>
            </a:r>
          </a:p>
          <a:p>
            <a:pPr algn="l"/>
            <a:endParaRPr sz="110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if (browser) {</a:t>
            </a: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    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Azonnali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DOM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init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megelőzi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a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téma-villanást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if (</a:t>
            </a:r>
            <a:r>
              <a:rPr sz="1100" dirty="0" err="1">
                <a:solidFill>
                  <a:srgbClr val="C78AFF"/>
                </a:solidFill>
                <a:latin typeface="Consolas"/>
              </a:rPr>
              <a:t>defaultValue</a:t>
            </a:r>
            <a:r>
              <a:rPr sz="1100" dirty="0">
                <a:solidFill>
                  <a:srgbClr val="C78AFF"/>
                </a:solidFill>
                <a:latin typeface="Consolas"/>
              </a:rPr>
              <a:t>)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document.documentElement.classList.add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('dark');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} else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document.documentElement.classList.remove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('dark');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}</a:t>
            </a:r>
          </a:p>
          <a:p>
            <a:pPr algn="l"/>
            <a:endParaRPr sz="110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    // Store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változás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→ DOM +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localStorage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szinkronizálás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isDarkMode.subscribe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((value) =&gt; {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    if (value)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document.documentElement.classList.add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('dark');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     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localStorage.setItem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('theme', 'dark');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    } else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document.documentElement.classList.remove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('dark');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     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localStorage.setItem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('theme', 'light');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    }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});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Validációs Függvények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Checkout form mezők validálása regex-szel  (utils.ts)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src/lib/utils.ts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4018" y="1892808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Email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validáció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export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validateEmail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(email: string):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boolean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{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const re = /^[^\s@]+@[^\s@]+\.[^\s@]+$/;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re.test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email.trim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());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Magyar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telefonszám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(+36 / 06 + 20|30|70 + 7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szám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)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export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validatePhone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(phone: string):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boolean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const clean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phone.replace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(/[\s\-]/g, '');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const re = /^(\+36|06)(20|30|70)\d{7}$/;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re.test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(clean);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Irányítószám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pontosan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4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számjegy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export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validateZip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(zip: string):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boolean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{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return /^\d{4}$/.test(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zip.trim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());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Település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magyar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betűk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, min. 2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karakter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export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validateCity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(city: string):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boolean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{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const re = /^[a-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záéíóöőúüűA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-ZÁÉÍÓÖŐÚÜŰ\s\-]{2,}$/;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re.test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city.trim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());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17618" y="2101955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Utca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házszám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betűk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számok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pont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kötőjel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export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validateStreet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(street: string):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boolean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{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const re = /^[a-záéíóöőúüűA-Z0-9\s\.\-,]{3,}$/;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re.test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street.trim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());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Hibaüzenet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konstansok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export const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validationErrors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 =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email: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Helyes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formátum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: pelda@email.hu',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phone: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'Magyar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szám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: +36 30 123 4567',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zip: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'4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számjegyű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irányítószám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city: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'Min. 2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karakter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csak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betűk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street: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'Min. 3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karakter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required: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Kötelező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mező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ProductCard Komponens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Svelte 5 Runes API: $state, $props – termék kártya  (ProductCard.svelte)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src/lib/components/ProductCard.svelte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65960" y="1411403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&lt;script 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lang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="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ts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"&gt;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import {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addToCart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 }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from '$lib/cart';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import type { Product }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from '$lib/types';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import * as Select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from '$lib/components/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ui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/select';</a:t>
            </a:r>
          </a:p>
          <a:p>
            <a:pPr algn="l"/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Svelte 5 $props rune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let { product }: { product: Product }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    = $props();</a:t>
            </a:r>
          </a:p>
          <a:p>
            <a:pPr algn="l"/>
            <a:endParaRPr sz="105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Svelte 5 $state rune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let quantity = $state(1);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let milk     = $state('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Nincs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');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let sugar    = $state('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Nincs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');</a:t>
            </a:r>
          </a:p>
          <a:p>
            <a:pPr algn="l"/>
            <a:endParaRPr sz="105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function decrease()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if (quantity &gt; 1) quantity--;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function increase() { quantity++; }</a:t>
            </a:r>
          </a:p>
          <a:p>
            <a:pPr algn="l"/>
            <a:endParaRPr sz="105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handleAddToCart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addToCart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(product, quantity,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{ milk, sugar });</a:t>
            </a: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  quantity = 1; // reset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&lt;/script&gt;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09560" y="1426464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&lt;!--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Termék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kép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vagy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ikon --&gt;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{#if 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product.image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}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  &lt;</a:t>
            </a:r>
            <a:r>
              <a:rPr sz="1050" dirty="0" err="1">
                <a:solidFill>
                  <a:srgbClr val="D19A66"/>
                </a:solidFill>
                <a:latin typeface="Consolas"/>
              </a:rPr>
              <a:t>img</a:t>
            </a:r>
            <a:r>
              <a:rPr sz="1050" dirty="0">
                <a:solidFill>
                  <a:srgbClr val="D19A66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D19A66"/>
                </a:solidFill>
                <a:latin typeface="Consolas"/>
              </a:rPr>
              <a:t>src</a:t>
            </a:r>
            <a:r>
              <a:rPr sz="1050" dirty="0">
                <a:solidFill>
                  <a:srgbClr val="D19A66"/>
                </a:solidFill>
                <a:latin typeface="Consolas"/>
              </a:rPr>
              <a:t>={</a:t>
            </a:r>
            <a:r>
              <a:rPr sz="1050" dirty="0" err="1">
                <a:solidFill>
                  <a:srgbClr val="D19A66"/>
                </a:solidFill>
                <a:latin typeface="Consolas"/>
              </a:rPr>
              <a:t>product.image</a:t>
            </a:r>
            <a:r>
              <a:rPr sz="1050" dirty="0">
                <a:solidFill>
                  <a:srgbClr val="D19A66"/>
                </a:solidFill>
                <a:latin typeface="Consolas"/>
              </a:rPr>
              <a:t>}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    alt={product.name}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{:else}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&lt;Coffee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{/if}</a:t>
            </a:r>
          </a:p>
          <a:p>
            <a:pPr algn="l"/>
            <a:endParaRPr sz="1050" dirty="0">
              <a:solidFill>
                <a:srgbClr val="E06C75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&lt;!--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Tej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típus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választó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--&gt;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Select.Root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 type="single"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D19A66"/>
                </a:solidFill>
                <a:latin typeface="Consolas"/>
              </a:rPr>
              <a:t>bind:value</a:t>
            </a:r>
            <a:r>
              <a:rPr sz="1050" dirty="0">
                <a:solidFill>
                  <a:srgbClr val="D19A66"/>
                </a:solidFill>
                <a:latin typeface="Consolas"/>
              </a:rPr>
              <a:t>={milk as any}&gt;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&lt;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Select.Item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value="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Mandula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tej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" /&gt;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&lt;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Select.Item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value="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Tehéntej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" /&gt;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&lt;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Select.Item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value="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Zabtej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"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Select.Root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&gt;</a:t>
            </a:r>
          </a:p>
          <a:p>
            <a:pPr algn="l"/>
            <a:endParaRPr sz="1050" dirty="0">
              <a:solidFill>
                <a:srgbClr val="E06C75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&lt;!--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Mennyiség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szabályozás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--&gt;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&lt;Button onclick={decrease}&gt;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&lt;Minus size={14}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&lt;/Button&gt;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&lt;span&gt;{quantity}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db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&lt;/span&gt;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&lt;Button onclick={increase}&gt;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&lt;Plus size={14}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&lt;/Button&gt;</a:t>
            </a:r>
          </a:p>
          <a:p>
            <a:pPr algn="l"/>
            <a:endParaRPr sz="1050" dirty="0">
              <a:solidFill>
                <a:srgbClr val="E06C75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&lt;Button onclick={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handleAddToCart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}&gt;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Kosárba</a:t>
            </a:r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&lt;/Button&gt;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Főoldal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Termék grid, checkout bar, témaváltó gomb  (+page.svelte)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src/routes/+page.svelte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65960" y="1685723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&lt;script 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lang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="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ts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"&gt;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import {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cartTotal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 }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from '$lib/cart';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import {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isDarkMode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 }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from '$lib/theme';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import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ProductCard</a:t>
            </a:r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from '$lib/components/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ProductCard.svelte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';</a:t>
            </a:r>
          </a:p>
          <a:p>
            <a:pPr algn="l"/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let { data } = $props();</a:t>
            </a:r>
          </a:p>
          <a:p>
            <a:pPr algn="l"/>
            <a:endParaRPr sz="105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toggleTheme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isDarkMode.update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(v =&gt; !v);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&lt;/script&gt;</a:t>
            </a:r>
          </a:p>
          <a:p>
            <a:pPr algn="l"/>
            <a:endParaRPr sz="1050" dirty="0">
              <a:solidFill>
                <a:srgbClr val="E06C75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&lt;!--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Téma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váltó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+ Admin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gomb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--&gt;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&lt;Button onclick={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toggleTheme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}&gt;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{#if $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isDarkMode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}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&lt;Sun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{:else}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&lt;Moon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{/if}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&lt;/Button&gt;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4598" y="1892808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&lt;!--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Termék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rács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(3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oszlop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desktop) --&gt;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&lt;div class="grid grid-cols-1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  md:grid-cols-2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  lg:grid-cols-3 gap-6"&gt;</a:t>
            </a:r>
          </a:p>
          <a:p>
            <a:pPr algn="l"/>
            <a:endParaRPr sz="1050" dirty="0">
              <a:solidFill>
                <a:srgbClr val="D19A66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{#each 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data.products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 as product (product.id)}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  &lt;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ProductCard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 {product} /&gt;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{/each}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&lt;/div&gt;</a:t>
            </a:r>
          </a:p>
          <a:p>
            <a:pPr algn="l"/>
            <a:endParaRPr sz="1050" dirty="0">
              <a:solidFill>
                <a:srgbClr val="E06C75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&lt;!-- Checkout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sáv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végösszeg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--&gt;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Card.Root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 class="w-full max-w-lg"&gt;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&lt;div class="flex justify-between"&gt;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&lt;span&gt;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Összesen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:&lt;/span&gt;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  &lt;span&gt;{$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cartTotal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} Ft&lt;/span&gt;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&lt;/div&gt;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&lt;Button 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href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="/checkout"&gt;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&lt;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ShoppingCart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/&gt;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Megrendelés</a:t>
            </a:r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&lt;/Button&gt;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&lt;/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Card.Root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Checkout Oldal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Svelte 5 $state, $effect, form validáció, rendelés küldés  (checkout/+page.svelte)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src/routes/checkout/+page.svelte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65960" y="1302572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Svelte 5 $state – form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mezők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fullName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= $state('');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email    = $state('');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phone    = $state('');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zip      = $state('');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city     = $state('');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street   = $state('');</a:t>
            </a:r>
          </a:p>
          <a:p>
            <a:pPr algn="l"/>
            <a:endParaRPr sz="105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$effect – form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adatok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auto-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mentése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$effect(()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if (!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saveFormData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 return;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localStorage.setItem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CHECKOUT_STORAGE_KEY,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JSON.stringify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fullName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 email,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phone, zip,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city, street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})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});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onMount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adatok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visszatöltése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 err="1">
                <a:solidFill>
                  <a:srgbClr val="61AFEF"/>
                </a:solidFill>
                <a:latin typeface="Consolas"/>
              </a:rPr>
              <a:t>onMount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const saved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localStorage</a:t>
            </a:r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.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getItem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(CHECKOUT_STORAGE_KEY);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if (saved)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const d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JSON.parse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(saved);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fullName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d.fullName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|| '';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email   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d.email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  || '';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});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09560" y="1474246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Rendelés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leadása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async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placeOrder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() {</a:t>
            </a: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1. Form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validáció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if (!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validateEmail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(email))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emailError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validationErrors.email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  return;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if (!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validatePhone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(phone))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phoneError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validationErrors.phone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  return;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</a:t>
            </a: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… zip, city, street …</a:t>
            </a:r>
          </a:p>
          <a:p>
            <a:pPr algn="l"/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2. API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hívás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const order = await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createOrder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vevo_nev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fullName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email,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telefon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phone,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iranyitoszam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zip,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telepules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   city,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utca_hazszam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street,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items: $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cartItems.map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=&gt;({ …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}))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});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3.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Kosár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ürítése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+ redirect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cartItems.set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([]);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goto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('/');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7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Admin Felület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JWT login, rendelés táblázat, $derived szűrő  (admin/+page.svelte)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src/routes/admin/+page.svelte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43450" y="1783080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Svelte 5 $state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állapotok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isLoggedIn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 = $state(false);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orders      = $state&lt;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ApiOrder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[]&gt;([]);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statusFilter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= $state&lt;string&gt;('all');</a:t>
            </a:r>
          </a:p>
          <a:p>
            <a:pPr algn="l"/>
            <a:endParaRPr sz="105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$derived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szűrt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rendelések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let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filteredOrders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= $derived(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statusFilter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=== 'all'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? orders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: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statusFilter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=== 'pending'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?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orders.filter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(o =&gt;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          </a:t>
            </a:r>
            <a:r>
              <a:rPr sz="1050" dirty="0" err="1">
                <a:solidFill>
                  <a:srgbClr val="D19A66"/>
                </a:solidFill>
                <a:latin typeface="Consolas"/>
              </a:rPr>
              <a:t>o.postazva</a:t>
            </a:r>
            <a:r>
              <a:rPr sz="1050" dirty="0">
                <a:solidFill>
                  <a:srgbClr val="D19A66"/>
                </a:solidFill>
                <a:latin typeface="Consolas"/>
              </a:rPr>
              <a:t> === 0)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: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orders.filter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(o =&gt;</a:t>
            </a:r>
          </a:p>
          <a:p>
            <a:pPr algn="l"/>
            <a:r>
              <a:rPr sz="1050" dirty="0">
                <a:solidFill>
                  <a:srgbClr val="D19A66"/>
                </a:solidFill>
                <a:latin typeface="Consolas"/>
              </a:rPr>
              <a:t>          </a:t>
            </a:r>
            <a:r>
              <a:rPr sz="1050" dirty="0" err="1">
                <a:solidFill>
                  <a:srgbClr val="D19A66"/>
                </a:solidFill>
                <a:latin typeface="Consolas"/>
              </a:rPr>
              <a:t>o.postazva</a:t>
            </a:r>
            <a:r>
              <a:rPr sz="1050" dirty="0">
                <a:solidFill>
                  <a:srgbClr val="D19A66"/>
                </a:solidFill>
                <a:latin typeface="Consolas"/>
              </a:rPr>
              <a:t> === 1)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);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Bejelentkezés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async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handleLogin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await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api.login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(username, password);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isLoggedIn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 true;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await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loadOrders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46131" y="1303020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Postázás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státusz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váltás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async 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toggleShipped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orderId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string,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currentStatus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number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const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newStatus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currentStatus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=== 1 ? 0 : 1;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const result = await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api.shipOrder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56B6C2"/>
                </a:solidFill>
                <a:latin typeface="Consolas"/>
              </a:rPr>
              <a:t>orderId</a:t>
            </a:r>
            <a:r>
              <a:rPr sz="1050" dirty="0">
                <a:solidFill>
                  <a:srgbClr val="56B6C2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56B6C2"/>
                </a:solidFill>
                <a:latin typeface="Consolas"/>
              </a:rPr>
              <a:t>newStatus</a:t>
            </a:r>
            <a:r>
              <a:rPr sz="1050" dirty="0">
                <a:solidFill>
                  <a:srgbClr val="56B6C2"/>
                </a:solidFill>
                <a:latin typeface="Consolas"/>
              </a:rPr>
              <a:t> as 0 | 1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);</a:t>
            </a: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Csak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az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érintett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sort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frissítjük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orders =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orders.map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(o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if (o.id !==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orderId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 return o;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return { ...o,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postazva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result.postazva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postazva_datum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result.postazva_datum</a:t>
            </a:r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};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});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&lt;!--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Táblázat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sor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Badge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státusz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--&gt;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{#if </a:t>
            </a:r>
            <a:r>
              <a:rPr sz="1050" dirty="0" err="1">
                <a:solidFill>
                  <a:srgbClr val="E06C75"/>
                </a:solidFill>
                <a:latin typeface="Consolas"/>
              </a:rPr>
              <a:t>order.postazva</a:t>
            </a:r>
            <a:r>
              <a:rPr sz="1050" dirty="0">
                <a:solidFill>
                  <a:srgbClr val="E06C75"/>
                </a:solidFill>
                <a:latin typeface="Consolas"/>
              </a:rPr>
              <a:t> === 1}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&lt;Badge variant="default"&gt;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Postázva</a:t>
            </a:r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&lt;/Badge&gt;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{:else}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&lt;Badge variant="secondary"&gt;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Feldolgozás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alatt</a:t>
            </a:r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  &lt;/Badge&gt;</a:t>
            </a:r>
          </a:p>
          <a:p>
            <a:pPr algn="l"/>
            <a:r>
              <a:rPr sz="1050" dirty="0">
                <a:solidFill>
                  <a:srgbClr val="E06C75"/>
                </a:solidFill>
                <a:latin typeface="Consolas"/>
              </a:rPr>
              <a:t>{/if}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Express Szerver: Autentikáció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JWT generálás, authMiddleware, bejelentkezés végpont  (server.cjs)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server.cjs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65960" y="1347395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JWT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konfiguráció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const JWT_SECRET =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process.env.JWT_SECRET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 ||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neocoffee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-secret-key';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const JWT_EXPIRES_IN = '24h';</a:t>
            </a:r>
          </a:p>
          <a:p>
            <a:pPr algn="l"/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Token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generálás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generateToken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(admin)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jwt.sign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{ id: admin.id,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felhasznalonev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admin.felhasznalonev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},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JWT_SECRET,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{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expiresIn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JWT_EXPIRES_IN }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Auth middleware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function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authMiddleware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(req, res, next)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const auth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req.headers.authorization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if (!auth || !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auth.startsWith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('Bearer '))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res.status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(401)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  .json({ error: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Nincs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jogosultság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 });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try {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req.admin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=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jwt.verify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 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auth.split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(' ')[1], JWT_SECRET);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next();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 catch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res.status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(401).json(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  { error: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Lejárt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token' });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06108" y="1359946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POST /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api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/admin/login</a:t>
            </a:r>
          </a:p>
          <a:p>
            <a:pPr algn="l"/>
            <a:r>
              <a:rPr sz="1050" dirty="0" err="1">
                <a:solidFill>
                  <a:srgbClr val="61AFEF"/>
                </a:solidFill>
                <a:latin typeface="Consolas"/>
              </a:rPr>
              <a:t>app.post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('/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api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/admin/login',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async (req, res)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const {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felhasznalonev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jelszo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} =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req.body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;</a:t>
            </a:r>
          </a:p>
          <a:p>
            <a:pPr algn="l"/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Admin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keresése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DB-ben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const admin =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db.prepare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'SELECT * FROM admin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 WHERE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felhasznalonev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= ?'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).get(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felhasznalonev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if (!admin)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res.status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(401)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.json({ error: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Hibás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adatok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 });</a:t>
            </a:r>
          </a:p>
          <a:p>
            <a:pPr algn="l"/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Jelszó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ellenőrzés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bcrypt-tel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const valid = await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bcrypt.compare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jelszo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admin.jelszo_hash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if (!valid) return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res.status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(401)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.json({ error: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Hibás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adatok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 });</a:t>
            </a:r>
          </a:p>
          <a:p>
            <a:pPr algn="l"/>
            <a:endParaRPr sz="105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// Token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visszaküldése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res.json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({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  token: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generateToken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(admin),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admin: { id: admin.id,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felhasznalonev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admin.felhasznalonev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}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});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Express Szerver: Rendelés Létrehozás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POST /api/orders – tranzakció, snapshot árazás, CASCADE kapcsolat  (server.cjs)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server.cjs</a:t>
            </a:r>
          </a:p>
        </p:txBody>
      </p:sp>
      <p:sp>
        <p:nvSpPr>
          <p:cNvPr id="8" name="Oval 7"/>
          <p:cNvSpPr/>
          <p:nvPr/>
        </p:nvSpPr>
        <p:spPr>
          <a:xfrm>
            <a:off x="0" y="753034"/>
            <a:ext cx="11887200" cy="6168973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2662" y="914400"/>
            <a:ext cx="9325624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// POST /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api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/orders  – 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publikus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végpont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nem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kell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auth</a:t>
            </a:r>
          </a:p>
          <a:p>
            <a:pPr algn="l"/>
            <a:r>
              <a:rPr sz="1100" dirty="0" err="1">
                <a:solidFill>
                  <a:srgbClr val="61AFEF"/>
                </a:solidFill>
                <a:latin typeface="Consolas"/>
              </a:rPr>
              <a:t>app.post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('/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api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/orders', (req, res) =&gt;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const {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vevo_nev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telefon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email,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iranyitoszam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telepules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utca_hazszam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items } =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req.body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;</a:t>
            </a:r>
          </a:p>
          <a:p>
            <a:pPr algn="l"/>
            <a:endParaRPr sz="110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  //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Tranzakció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atomi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mentés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(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rendelés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+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tételek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egyszerre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)</a:t>
            </a: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  const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insertOrder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=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db.transaction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(() =&gt;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const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orderId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=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generateId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();   //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crypto.randomBytes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(4).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toString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('hex')</a:t>
            </a:r>
          </a:p>
          <a:p>
            <a:pPr algn="l"/>
            <a:endParaRPr sz="110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    // 1.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Rendelés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fej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mentése</a:t>
            </a:r>
            <a:endParaRPr sz="110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db.prepare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(`INSERT INTO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rendelesek</a:t>
            </a:r>
            <a:endParaRPr sz="110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(id,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vevo_nev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telefon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email,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iranyitoszam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telepules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utca_hazszam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)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VALUES (?, ?, ?, ?, ?, ?, ?)`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).run(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orderId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vevo_nev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telefon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email,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iranyitoszam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telepules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utca_hazszam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endParaRPr sz="110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6A737D"/>
                </a:solidFill>
                <a:latin typeface="Consolas"/>
              </a:rPr>
              <a:t>    // 2.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Rendelési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tételek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mentése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 (snapshot </a:t>
            </a:r>
            <a:r>
              <a:rPr sz="1100" dirty="0" err="1">
                <a:solidFill>
                  <a:srgbClr val="6A737D"/>
                </a:solidFill>
                <a:latin typeface="Consolas"/>
              </a:rPr>
              <a:t>ár</a:t>
            </a:r>
            <a:r>
              <a:rPr sz="1100" dirty="0">
                <a:solidFill>
                  <a:srgbClr val="6A737D"/>
                </a:solidFill>
                <a:latin typeface="Consolas"/>
              </a:rPr>
              <a:t>!)</a:t>
            </a: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    const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insertItem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=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db.prepare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(`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INSERT INTO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rendeles_tetelek</a:t>
            </a:r>
            <a:endParaRPr sz="110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  (id,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rendeles_id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termek_nev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  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termek_ar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mennyiseg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tej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9ECE6A"/>
                </a:solidFill>
                <a:latin typeface="Consolas"/>
              </a:rPr>
              <a:t>cukor</a:t>
            </a:r>
            <a:r>
              <a:rPr sz="1100" dirty="0">
                <a:solidFill>
                  <a:srgbClr val="9ECE6A"/>
                </a:solidFill>
                <a:latin typeface="Consolas"/>
              </a:rPr>
              <a:t>)</a:t>
            </a:r>
          </a:p>
          <a:p>
            <a:pPr algn="l"/>
            <a:r>
              <a:rPr sz="1100" dirty="0">
                <a:solidFill>
                  <a:srgbClr val="9ECE6A"/>
                </a:solidFill>
                <a:latin typeface="Consolas"/>
              </a:rPr>
              <a:t>        VALUES (?, ?, ?, ?, ?, ?, ?)`);</a:t>
            </a:r>
          </a:p>
          <a:p>
            <a:pPr algn="l"/>
            <a:endParaRPr sz="1100" dirty="0">
              <a:solidFill>
                <a:srgbClr val="9ECE6A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for (const item of items) {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insertItem.run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generateId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(),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orderId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item.termek_nev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item.termek_ar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item.mennyiseg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item.tej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item.cukor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  }</a:t>
            </a: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  return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orderId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  });</a:t>
            </a:r>
          </a:p>
          <a:p>
            <a:pPr algn="l"/>
            <a:r>
              <a:rPr sz="1100" dirty="0">
                <a:solidFill>
                  <a:srgbClr val="61AFEF"/>
                </a:solidFill>
                <a:latin typeface="Consolas"/>
              </a:rPr>
              <a:t>  const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newId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=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insertOrder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();  //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tranzakció</a:t>
            </a:r>
            <a:r>
              <a:rPr sz="1100" dirty="0">
                <a:solidFill>
                  <a:srgbClr val="61AFE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1AFEF"/>
                </a:solidFill>
                <a:latin typeface="Consolas"/>
              </a:rPr>
              <a:t>futtatása</a:t>
            </a:r>
            <a:endParaRPr sz="1100" dirty="0">
              <a:solidFill>
                <a:srgbClr val="61AFEF"/>
              </a:solidFill>
              <a:latin typeface="Consolas"/>
            </a:endParaRPr>
          </a:p>
          <a:p>
            <a:pPr algn="l"/>
            <a:r>
              <a:rPr sz="110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res.status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(201).json({ id: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newId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, message: '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Rendelés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sikeresen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ABB2BF"/>
                </a:solidFill>
                <a:latin typeface="Consolas"/>
              </a:rPr>
              <a:t>létrehozva</a:t>
            </a:r>
            <a:r>
              <a:rPr sz="1100" dirty="0">
                <a:solidFill>
                  <a:srgbClr val="ABB2BF"/>
                </a:solidFill>
                <a:latin typeface="Consolas"/>
              </a:rPr>
              <a:t>' });</a:t>
            </a:r>
          </a:p>
          <a:p>
            <a:pPr algn="l"/>
            <a:r>
              <a:rPr sz="1100" dirty="0">
                <a:solidFill>
                  <a:srgbClr val="C78AF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7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Adatbázis Séma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SQLite CREATE TABLE utasítások, indexek, CASCADE törlés  (schema.sql)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schema.sql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91195" y="1676759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Termék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katalógus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CREATE TABLE IF NOT EXISTS </a:t>
            </a:r>
            <a:r>
              <a:rPr sz="1050" dirty="0" err="1">
                <a:solidFill>
                  <a:srgbClr val="56B6C2"/>
                </a:solidFill>
                <a:latin typeface="Consolas"/>
              </a:rPr>
              <a:t>termekek</a:t>
            </a:r>
            <a:r>
              <a:rPr sz="1050" dirty="0">
                <a:solidFill>
                  <a:srgbClr val="56B6C2"/>
                </a:solidFill>
                <a:latin typeface="Consolas"/>
              </a:rPr>
              <a:t> (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id      TEXT    PRIMARY KEY,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   TEXT    NOT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    INTEGER NOT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kep_url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TEXT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);</a:t>
            </a:r>
          </a:p>
          <a:p>
            <a:pPr algn="l"/>
            <a:endParaRPr sz="1050" dirty="0">
              <a:solidFill>
                <a:srgbClr val="56B6C2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Kezdő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termékek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INSERT OR IGNORE INTO </a:t>
            </a:r>
            <a:r>
              <a:rPr sz="1050" dirty="0" err="1">
                <a:solidFill>
                  <a:srgbClr val="56B6C2"/>
                </a:solidFill>
                <a:latin typeface="Consolas"/>
              </a:rPr>
              <a:t>termekek</a:t>
            </a:r>
            <a:endParaRPr sz="1050" dirty="0">
              <a:solidFill>
                <a:srgbClr val="56B6C2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(id,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kep_url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 VALUES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('a1b2c3d4','Cappuccino', 850,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'/images/cappuccino.jpg'),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('b2c3d4e5','Espresso',   650,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'/images/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espresso.webp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'),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('c3d4e5f6','Ristretto',  850,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'/images/ristretto.jpg'),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('d4e5f6a7','Latte',      900,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'/images/latte.jpg'),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('e5f6a7b8','Americano',  700,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'/images/americano.jpg'),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('f6a7b8c9','Doppio',     800,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'/images/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doppio.webp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');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60475" y="1676759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Rendelési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tételek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(FK + CASCADE)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CREATE TABLE IF NOT EXISTS </a:t>
            </a:r>
            <a:r>
              <a:rPr sz="1050" dirty="0" err="1">
                <a:solidFill>
                  <a:srgbClr val="56B6C2"/>
                </a:solidFill>
                <a:latin typeface="Consolas"/>
              </a:rPr>
              <a:t>rendeles_tetelek</a:t>
            </a:r>
            <a:r>
              <a:rPr sz="1050" dirty="0">
                <a:solidFill>
                  <a:srgbClr val="56B6C2"/>
                </a:solidFill>
                <a:latin typeface="Consolas"/>
              </a:rPr>
              <a:t> (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id          TEXT    PRIMARY KEY,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rendeles_id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TEXT    NOT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termek_nev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TEXT    NOT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termek_ar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 INTEGER NOT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mennyiseg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 INTEGER NOT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tej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       TEXT    NOT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cukor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       TEXT    NOT NULL,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    FOREIGN KEY(</a:t>
            </a:r>
            <a:r>
              <a:rPr sz="1050" dirty="0" err="1">
                <a:solidFill>
                  <a:srgbClr val="56B6C2"/>
                </a:solidFill>
                <a:latin typeface="Consolas"/>
              </a:rPr>
              <a:t>rendeles_id</a:t>
            </a:r>
            <a:r>
              <a:rPr sz="1050" dirty="0">
                <a:solidFill>
                  <a:srgbClr val="56B6C2"/>
                </a:solidFill>
                <a:latin typeface="Consolas"/>
              </a:rPr>
              <a:t>)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REFERENCES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rendelesek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(id)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      ON DELETE CASCADE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);</a:t>
            </a:r>
          </a:p>
          <a:p>
            <a:pPr algn="l"/>
            <a:endParaRPr sz="1050" dirty="0">
              <a:solidFill>
                <a:srgbClr val="56B6C2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--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Teljesítmény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indexek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CREATE INDEX IF NOT EXISTS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idx_rendelesek_megrendelve</a:t>
            </a:r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ON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rendelesek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megrendelve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CREATE INDEX IF NOT EXISTS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idx_rendelesek_postazva</a:t>
            </a:r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ON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rendelesek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postazva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r>
              <a:rPr sz="1050" dirty="0">
                <a:solidFill>
                  <a:srgbClr val="56B6C2"/>
                </a:solidFill>
                <a:latin typeface="Consolas"/>
              </a:rPr>
              <a:t>CREATE INDEX IF NOT EXISTS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idx_rendeles_tetelek_rendeles_id</a:t>
            </a:r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ON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rendeles_tetelek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rendeles_id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4476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4476" y="0"/>
            <a:ext cx="6094476" cy="73152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E6CB"/>
                </a:solidFill>
              </a:rPr>
              <a:t>Kód – Vitest Tesztek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48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E7EB"/>
                </a:solidFill>
              </a:rPr>
              <a:t>Kosár store tesztek és API mock tesztek  (cart.test.ts / api.test.ts)</a:t>
            </a:r>
          </a:p>
        </p:txBody>
      </p:sp>
      <p:sp>
        <p:nvSpPr>
          <p:cNvPr id="7" name="Oval 6"/>
          <p:cNvSpPr/>
          <p:nvPr/>
        </p:nvSpPr>
        <p:spPr>
          <a:xfrm>
            <a:off x="8961120" y="137160"/>
            <a:ext cx="2971800" cy="347472"/>
          </a:xfrm>
          <a:prstGeom prst="ellipse">
            <a:avLst/>
          </a:prstGeom>
          <a:solidFill>
            <a:srgbClr val="2A2D3A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79C0FF"/>
                </a:solidFill>
              </a:rPr>
              <a:t>tests/cart.test.ts + api.test.ts</a:t>
            </a:r>
          </a:p>
        </p:txBody>
      </p:sp>
      <p:sp>
        <p:nvSpPr>
          <p:cNvPr id="8" name="Oval 7"/>
          <p:cNvSpPr/>
          <p:nvPr/>
        </p:nvSpPr>
        <p:spPr>
          <a:xfrm>
            <a:off x="274320" y="960120"/>
            <a:ext cx="566928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49148" y="1417320"/>
            <a:ext cx="539496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cart.test.ts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Kosár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tesztek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import { describe, it, expect,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      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beforeEach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 } from '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vitest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';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import { get } from 'svelte/store';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import {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cartItems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,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cartTotal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,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       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addToCart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 } from '../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src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/lib/cart';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describe('Cart Store', 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beforeEach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(() =&gt;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cartItems.set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([]));</a:t>
            </a:r>
          </a:p>
          <a:p>
            <a:pPr algn="l"/>
            <a:endParaRPr sz="1050" dirty="0">
              <a:solidFill>
                <a:srgbClr val="ABB2B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it('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kezdetben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üres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a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kosár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', 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expect(get(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cartItems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)).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toEqual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([]);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});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it('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addToCart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hozzáad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egy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terméket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', 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addToCart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mockProduct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 2,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  { milk: '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Zabtej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', sugar: '1 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kanál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' });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const items = get(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cartItems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expect(items).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toHaveLength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(1);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expect(items[0].quantity).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toBe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(2);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});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it('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cartTotal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helyes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összeget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számol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', 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addToCart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mockProduct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, 2,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mockModifiers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    // 850 * 2 = 1700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expect(get(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cartTotal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)).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toBe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(1700);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});</a:t>
            </a:r>
          </a:p>
        </p:txBody>
      </p:sp>
      <p:sp>
        <p:nvSpPr>
          <p:cNvPr id="10" name="Oval 9"/>
          <p:cNvSpPr/>
          <p:nvPr/>
        </p:nvSpPr>
        <p:spPr>
          <a:xfrm>
            <a:off x="6126480" y="960120"/>
            <a:ext cx="5760720" cy="5669280"/>
          </a:xfrm>
          <a:prstGeom prst="ellipse">
            <a:avLst/>
          </a:prstGeom>
          <a:solidFill>
            <a:srgbClr val="0A0D16"/>
          </a:solidFill>
          <a:ln>
            <a:solidFill>
              <a:srgbClr val="2A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96477" y="1554480"/>
            <a:ext cx="5486400" cy="5440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api.test.ts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– API mock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tesztek</a:t>
            </a:r>
            <a:endParaRPr sz="1050" dirty="0">
              <a:solidFill>
                <a:srgbClr val="6A737D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import { vi } from '</a:t>
            </a:r>
            <a:r>
              <a:rPr sz="1050" dirty="0" err="1">
                <a:solidFill>
                  <a:srgbClr val="C78AFF"/>
                </a:solidFill>
                <a:latin typeface="Consolas"/>
              </a:rPr>
              <a:t>vitest</a:t>
            </a:r>
            <a:r>
              <a:rPr sz="1050" dirty="0">
                <a:solidFill>
                  <a:srgbClr val="C78AFF"/>
                </a:solidFill>
                <a:latin typeface="Consolas"/>
              </a:rPr>
              <a:t>';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A737D"/>
                </a:solidFill>
                <a:latin typeface="Consolas"/>
              </a:rPr>
              <a:t>// fetch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és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A737D"/>
                </a:solidFill>
                <a:latin typeface="Consolas"/>
              </a:rPr>
              <a:t>localStorage</a:t>
            </a:r>
            <a:r>
              <a:rPr sz="1050" dirty="0">
                <a:solidFill>
                  <a:srgbClr val="6A737D"/>
                </a:solidFill>
                <a:latin typeface="Consolas"/>
              </a:rPr>
              <a:t> mock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const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mockFetch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=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vi.fn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();</a:t>
            </a:r>
          </a:p>
          <a:p>
            <a:pPr algn="l"/>
            <a:r>
              <a:rPr sz="1050" dirty="0" err="1">
                <a:solidFill>
                  <a:srgbClr val="ABB2BF"/>
                </a:solidFill>
                <a:latin typeface="Consolas"/>
              </a:rPr>
              <a:t>vi.stubGlobal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('fetch',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mockFetch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);</a:t>
            </a:r>
          </a:p>
          <a:p>
            <a:pPr algn="l"/>
            <a:r>
              <a:rPr sz="1050" dirty="0" err="1">
                <a:solidFill>
                  <a:srgbClr val="ABB2BF"/>
                </a:solidFill>
                <a:latin typeface="Consolas"/>
              </a:rPr>
              <a:t>vi.stubGlobal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('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localStorage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',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getItem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   (k) =&gt; store[k] ?? null,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setItem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   (k, v) =&gt; store[k] = v,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removeItem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: (k) =&gt; delete store[k]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});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describe('Token Management', () =&gt; {</a:t>
            </a: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it('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setToken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elmenti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a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tokent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', 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setToken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('test-token-123');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expect(store['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admin_token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'])</a:t>
            </a:r>
          </a:p>
          <a:p>
            <a:pPr algn="l"/>
            <a:r>
              <a:rPr sz="1050" dirty="0">
                <a:solidFill>
                  <a:srgbClr val="9ECE6A"/>
                </a:solidFill>
                <a:latin typeface="Consolas"/>
              </a:rPr>
              <a:t>      .</a:t>
            </a:r>
            <a:r>
              <a:rPr sz="1050" dirty="0" err="1">
                <a:solidFill>
                  <a:srgbClr val="9ECE6A"/>
                </a:solidFill>
                <a:latin typeface="Consolas"/>
              </a:rPr>
              <a:t>toBe</a:t>
            </a:r>
            <a:r>
              <a:rPr sz="1050" dirty="0">
                <a:solidFill>
                  <a:srgbClr val="9ECE6A"/>
                </a:solidFill>
                <a:latin typeface="Consolas"/>
              </a:rPr>
              <a:t>('test-token-123');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});</a:t>
            </a:r>
          </a:p>
          <a:p>
            <a:pPr algn="l"/>
            <a:endParaRPr sz="1050" dirty="0">
              <a:solidFill>
                <a:srgbClr val="C78AFF"/>
              </a:solidFill>
              <a:latin typeface="Consolas"/>
            </a:endParaRPr>
          </a:p>
          <a:p>
            <a:pPr algn="l"/>
            <a:r>
              <a:rPr sz="1050" dirty="0">
                <a:solidFill>
                  <a:srgbClr val="61AFEF"/>
                </a:solidFill>
                <a:latin typeface="Consolas"/>
              </a:rPr>
              <a:t>  it('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clearToken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törli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 a </a:t>
            </a:r>
            <a:r>
              <a:rPr sz="1050" dirty="0" err="1">
                <a:solidFill>
                  <a:srgbClr val="61AFEF"/>
                </a:solidFill>
                <a:latin typeface="Consolas"/>
              </a:rPr>
              <a:t>tokent</a:t>
            </a:r>
            <a:r>
              <a:rPr sz="1050" dirty="0">
                <a:solidFill>
                  <a:srgbClr val="61AFEF"/>
                </a:solidFill>
                <a:latin typeface="Consolas"/>
              </a:rPr>
              <a:t>', () =&gt; {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store['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admin_token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'] = '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xyz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';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clearToken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();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expect(store['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admin_token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'])</a:t>
            </a:r>
          </a:p>
          <a:p>
            <a:pPr algn="l"/>
            <a:r>
              <a:rPr sz="1050" dirty="0">
                <a:solidFill>
                  <a:srgbClr val="ABB2BF"/>
                </a:solidFill>
                <a:latin typeface="Consolas"/>
              </a:rPr>
              <a:t>      .</a:t>
            </a:r>
            <a:r>
              <a:rPr sz="1050" dirty="0" err="1">
                <a:solidFill>
                  <a:srgbClr val="ABB2BF"/>
                </a:solidFill>
                <a:latin typeface="Consolas"/>
              </a:rPr>
              <a:t>toBeUndefined</a:t>
            </a:r>
            <a:r>
              <a:rPr sz="1050" dirty="0">
                <a:solidFill>
                  <a:srgbClr val="ABB2BF"/>
                </a:solidFill>
                <a:latin typeface="Consolas"/>
              </a:rPr>
              <a:t>();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  });</a:t>
            </a:r>
          </a:p>
          <a:p>
            <a:pPr algn="l"/>
            <a:r>
              <a:rPr sz="1050" dirty="0">
                <a:solidFill>
                  <a:srgbClr val="C78AF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5383</Words>
  <Application>Microsoft Office PowerPoint</Application>
  <PresentationFormat>Egyéni</PresentationFormat>
  <Paragraphs>997</Paragraphs>
  <Slides>26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26</vt:i4>
      </vt:variant>
    </vt:vector>
  </HeadingPairs>
  <TitlesOfParts>
    <vt:vector size="30" baseType="lpstr">
      <vt:lpstr>Arial</vt:lpstr>
      <vt:lpstr>Calibri</vt:lpstr>
      <vt:lpstr>Consolas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keywords/>
  <dc:description>generated using python-pptx</dc:description>
  <cp:lastModifiedBy>Nagy Kristóf</cp:lastModifiedBy>
  <cp:revision>6</cp:revision>
  <dcterms:created xsi:type="dcterms:W3CDTF">2013-01-27T09:14:16Z</dcterms:created>
  <dcterms:modified xsi:type="dcterms:W3CDTF">2026-03-12T09:26:06Z</dcterms:modified>
  <cp:category/>
</cp:coreProperties>
</file>